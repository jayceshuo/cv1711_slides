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handoutMasterIdLst>
    <p:handoutMasterId r:id="rId23"/>
  </p:handoutMasterIdLst>
  <p:sldIdLst>
    <p:sldId id="259" r:id="rId5"/>
    <p:sldId id="262" r:id="rId6"/>
    <p:sldId id="270" r:id="rId7"/>
    <p:sldId id="330" r:id="rId8"/>
    <p:sldId id="271" r:id="rId9"/>
    <p:sldId id="272" r:id="rId10"/>
    <p:sldId id="275" r:id="rId11"/>
    <p:sldId id="282" r:id="rId12"/>
    <p:sldId id="276" r:id="rId13"/>
    <p:sldId id="287" r:id="rId14"/>
    <p:sldId id="283" r:id="rId15"/>
    <p:sldId id="284" r:id="rId16"/>
    <p:sldId id="285" r:id="rId17"/>
    <p:sldId id="286" r:id="rId18"/>
    <p:sldId id="288" r:id="rId19"/>
    <p:sldId id="266" r:id="rId20"/>
    <p:sldId id="267" r:id="rId21"/>
    <p:sldId id="331" r:id="rId22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71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E6F2"/>
    <a:srgbClr val="AED5A2"/>
    <a:srgbClr val="4F81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2B7F790-36C3-4FDC-A831-EEF898513DD6}" v="1" dt="2026-08-17T05:07:01.3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27102A9-8310-4765-A935-A1911B00CA55}" styleName="浅色样式 1 - 强调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254" autoAdjust="0"/>
    <p:restoredTop sz="94763"/>
  </p:normalViewPr>
  <p:slideViewPr>
    <p:cSldViewPr snapToGrid="0" snapToObjects="1" showGuides="1">
      <p:cViewPr varScale="1">
        <p:scale>
          <a:sx n="152" d="100"/>
          <a:sy n="152" d="100"/>
        </p:scale>
        <p:origin x="408" y="96"/>
      </p:cViewPr>
      <p:guideLst>
        <p:guide orient="horz" pos="1571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handoutMaster" Target="handoutMasters/handout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#JIANG SHUO#" userId="fb4bb6a7-b10d-4e4a-bf68-a269bc875e77" providerId="ADAL" clId="{FCFA541B-5210-44D5-866D-E58C6E9566A6}"/>
    <pc:docChg chg="addSld delSld modSld">
      <pc:chgData name="#JIANG SHUO#" userId="fb4bb6a7-b10d-4e4a-bf68-a269bc875e77" providerId="ADAL" clId="{FCFA541B-5210-44D5-866D-E58C6E9566A6}" dt="2026-08-17T05:07:03.353" v="2" actId="47"/>
      <pc:docMkLst>
        <pc:docMk/>
      </pc:docMkLst>
      <pc:sldChg chg="del">
        <pc:chgData name="#JIANG SHUO#" userId="fb4bb6a7-b10d-4e4a-bf68-a269bc875e77" providerId="ADAL" clId="{FCFA541B-5210-44D5-866D-E58C6E9566A6}" dt="2026-08-17T05:07:03.353" v="2" actId="47"/>
        <pc:sldMkLst>
          <pc:docMk/>
          <pc:sldMk cId="987049720" sldId="269"/>
        </pc:sldMkLst>
      </pc:sldChg>
      <pc:sldChg chg="add">
        <pc:chgData name="#JIANG SHUO#" userId="fb4bb6a7-b10d-4e4a-bf68-a269bc875e77" providerId="ADAL" clId="{FCFA541B-5210-44D5-866D-E58C6E9566A6}" dt="2026-08-17T05:07:01.354" v="1"/>
        <pc:sldMkLst>
          <pc:docMk/>
          <pc:sldMk cId="1394632675" sldId="331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ial" panose="020B060402020209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EFC5B3-379E-EF40-A0D2-38E640436CC2}" type="datetimeFigureOut">
              <a:rPr lang="en-US" smtClean="0">
                <a:latin typeface="Arial" panose="020B0604020202090204"/>
              </a:rPr>
              <a:t>8/17/2026</a:t>
            </a:fld>
            <a:endParaRPr lang="en-US" dirty="0">
              <a:latin typeface="Arial" panose="020B0604020202090204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ial" panose="020B0604020202090204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029101-7F9C-2D47-B95D-7561785BF174}" type="slidenum">
              <a:rPr lang="en-US" smtClean="0">
                <a:latin typeface="Arial" panose="020B0604020202090204"/>
              </a:rPr>
              <a:t>‹#›</a:t>
            </a:fld>
            <a:endParaRPr lang="en-US" dirty="0">
              <a:latin typeface="Arial" panose="020B0604020202090204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305176"/>
            <a:ext cx="82296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2180035"/>
            <a:ext cx="82296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39124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871068"/>
            <a:ext cx="4040188" cy="27213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39124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871068"/>
            <a:ext cx="4041775" cy="27213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591463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591464"/>
            <a:ext cx="5111750" cy="40486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593860"/>
            <a:ext cx="3008313" cy="3046254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422724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16896"/>
            <a:ext cx="8229600" cy="29070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361530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90204"/>
              </a:defRPr>
            </a:lvl1pPr>
          </a:lstStyle>
          <a:p>
            <a:fld id="{9F1CC899-6CEC-9548-B06D-7E1EB6F78CA3}" type="datetimeFigureOut">
              <a:rPr lang="en-US" smtClean="0"/>
              <a:t>8/17/2026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361530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90204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361530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tint val="75000"/>
                  </a:schemeClr>
                </a:solidFill>
                <a:latin typeface="Arial" panose="020B0604020202090204"/>
              </a:defRPr>
            </a:lvl1pPr>
          </a:lstStyle>
          <a:p>
            <a:fld id="{8E6562B1-0B0F-0246-9532-09536BC2AE59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872191"/>
            <a:ext cx="9144000" cy="286893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Arial" panose="020B0604020202090204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90204"/>
        <a:buChar char="•"/>
        <a:defRPr sz="3200" kern="1200">
          <a:solidFill>
            <a:schemeClr val="tx1"/>
          </a:solidFill>
          <a:latin typeface="Arial" panose="020B0604020202090204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90204"/>
        <a:buChar char="–"/>
        <a:defRPr sz="2800" kern="1200">
          <a:solidFill>
            <a:schemeClr val="tx1"/>
          </a:solidFill>
          <a:latin typeface="Arial" panose="020B0604020202090204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Arial" panose="020B0604020202090204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90204"/>
        <a:buChar char="–"/>
        <a:defRPr sz="2000" kern="1200">
          <a:solidFill>
            <a:schemeClr val="tx1"/>
          </a:solidFill>
          <a:latin typeface="Arial" panose="020B0604020202090204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90204"/>
        <a:buChar char="»"/>
        <a:defRPr sz="2000" kern="1200">
          <a:solidFill>
            <a:schemeClr val="tx1"/>
          </a:solidFill>
          <a:latin typeface="Arial" panose="020B0604020202090204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youtu.be/heIobpUVZqc?si=No0iEweG8M1roWwM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heIobpUVZqc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8303" y="1189841"/>
            <a:ext cx="5336535" cy="1481170"/>
          </a:xfrm>
        </p:spPr>
        <p:txBody>
          <a:bodyPr>
            <a:normAutofit/>
          </a:bodyPr>
          <a:lstStyle/>
          <a:p>
            <a:r>
              <a:rPr lang="en-US" sz="3000" b="1" dirty="0">
                <a:solidFill>
                  <a:schemeClr val="bg1"/>
                </a:solidFill>
                <a:cs typeface="Arial" panose="020B0604020202090204"/>
              </a:rPr>
              <a:t>CV1711 ENGINEERING DRAWING &amp; 3D BUILD </a:t>
            </a:r>
            <a:br>
              <a:rPr lang="en-US" sz="3000" b="1" dirty="0">
                <a:solidFill>
                  <a:schemeClr val="bg1"/>
                </a:solidFill>
                <a:cs typeface="Arial" panose="020B0604020202090204"/>
              </a:rPr>
            </a:br>
            <a:r>
              <a:rPr lang="en-US" sz="3000" b="1" dirty="0">
                <a:solidFill>
                  <a:schemeClr val="bg1"/>
                </a:solidFill>
                <a:cs typeface="Arial" panose="020B0604020202090204"/>
              </a:rPr>
              <a:t>INFO MODEL (LAB)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4 – Orthographic P</a:t>
            </a:r>
            <a:r>
              <a:rPr lang="en-US" altLang="zh-CN" sz="2800" b="1" dirty="0"/>
              <a:t>rojection</a:t>
            </a:r>
            <a:endParaRPr lang="en-US" sz="2800" b="1" dirty="0"/>
          </a:p>
        </p:txBody>
      </p:sp>
      <p:sp>
        <p:nvSpPr>
          <p:cNvPr id="2" name="TextBox 1"/>
          <p:cNvSpPr txBox="1"/>
          <p:nvPr/>
        </p:nvSpPr>
        <p:spPr>
          <a:xfrm>
            <a:off x="2140084" y="845735"/>
            <a:ext cx="63192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Let’s watch this </a:t>
            </a:r>
            <a:r>
              <a:rPr lang="en-GB" dirty="0" err="1"/>
              <a:t>youtube</a:t>
            </a:r>
            <a:r>
              <a:rPr lang="en-GB" dirty="0"/>
              <a:t> video for basic understandings.</a:t>
            </a:r>
          </a:p>
          <a:p>
            <a:r>
              <a:rPr lang="en-GB" i="1" dirty="0">
                <a:hlinkClick r:id="rId2"/>
              </a:rPr>
              <a:t>https://youtu.be/heIobpUVZqc?si=No0iEweG8M1roWwM</a:t>
            </a:r>
            <a:endParaRPr lang="en-GB" i="1" dirty="0"/>
          </a:p>
        </p:txBody>
      </p:sp>
      <p:pic>
        <p:nvPicPr>
          <p:cNvPr id="6" name="Picture 5" descr="A qr code with a dinosaur&#10;&#10;AI-generated content may be incorrec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9134" y="1492066"/>
            <a:ext cx="3181350" cy="31813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diagram of a quadrilateral&#10;&#10;AI-generated content may be incorrec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243" y="438950"/>
            <a:ext cx="4413757" cy="41660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2395" y="85090"/>
            <a:ext cx="591693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b="1" dirty="0"/>
              <a:t>Quadrant System and Orthographic Projection</a:t>
            </a:r>
            <a:endParaRPr lang="en-SG" dirty="0"/>
          </a:p>
        </p:txBody>
      </p:sp>
      <p:grpSp>
        <p:nvGrpSpPr>
          <p:cNvPr id="17" name="Group 16"/>
          <p:cNvGrpSpPr/>
          <p:nvPr/>
        </p:nvGrpSpPr>
        <p:grpSpPr>
          <a:xfrm>
            <a:off x="4668476" y="177518"/>
            <a:ext cx="4012232" cy="4633559"/>
            <a:chOff x="1762866" y="-646885"/>
            <a:chExt cx="5574078" cy="6437270"/>
          </a:xfrm>
        </p:grpSpPr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3">
              <a:clrChange>
                <a:clrFrom>
                  <a:srgbClr val="156082"/>
                </a:clrFrom>
                <a:clrTo>
                  <a:srgbClr val="156082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 flipH="1">
              <a:off x="1837651" y="3026502"/>
              <a:ext cx="2108697" cy="2312320"/>
            </a:xfrm>
            <a:prstGeom prst="rect">
              <a:avLst/>
            </a:prstGeom>
          </p:spPr>
        </p:pic>
        <p:sp>
          <p:nvSpPr>
            <p:cNvPr id="8" name="Speech Bubble: Rectangle 52"/>
            <p:cNvSpPr/>
            <p:nvPr/>
          </p:nvSpPr>
          <p:spPr>
            <a:xfrm>
              <a:off x="1762866" y="3748926"/>
              <a:ext cx="1274770" cy="602638"/>
            </a:xfrm>
            <a:prstGeom prst="wedgeRectCallout">
              <a:avLst>
                <a:gd name="adj1" fmla="val 63753"/>
                <a:gd name="adj2" fmla="val -39015"/>
              </a:avLst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200" dirty="0">
                  <a:solidFill>
                    <a:srgbClr val="FF0000"/>
                  </a:solidFill>
                </a:rPr>
                <a:t>Third Angle Projection</a:t>
              </a:r>
            </a:p>
          </p:txBody>
        </p:sp>
        <p:sp>
          <p:nvSpPr>
            <p:cNvPr id="9" name="Parallelogram 8"/>
            <p:cNvSpPr/>
            <p:nvPr/>
          </p:nvSpPr>
          <p:spPr>
            <a:xfrm rot="16200000">
              <a:off x="2700133" y="702011"/>
              <a:ext cx="5985707" cy="3287915"/>
            </a:xfrm>
            <a:prstGeom prst="parallelogram">
              <a:avLst>
                <a:gd name="adj" fmla="val 50708"/>
              </a:avLst>
            </a:prstGeom>
            <a:solidFill>
              <a:srgbClr val="4EA72E">
                <a:alpha val="50196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0" name="Parallelogram 9"/>
            <p:cNvSpPr/>
            <p:nvPr/>
          </p:nvSpPr>
          <p:spPr>
            <a:xfrm rot="16200000" flipV="1">
              <a:off x="2788887" y="2907242"/>
              <a:ext cx="3480279" cy="2286007"/>
            </a:xfrm>
            <a:prstGeom prst="parallelogram">
              <a:avLst>
                <a:gd name="adj" fmla="val 57036"/>
              </a:avLst>
            </a:prstGeom>
            <a:solidFill>
              <a:srgbClr val="4EA72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1" name="Parallelogram 10"/>
            <p:cNvSpPr/>
            <p:nvPr/>
          </p:nvSpPr>
          <p:spPr>
            <a:xfrm rot="9000000" flipV="1">
              <a:off x="2349326" y="1372596"/>
              <a:ext cx="4486946" cy="3248970"/>
            </a:xfrm>
            <a:prstGeom prst="parallelogram">
              <a:avLst>
                <a:gd name="adj" fmla="val 58457"/>
              </a:avLst>
            </a:prstGeom>
            <a:solidFill>
              <a:srgbClr val="4EA72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2" name="Parallelogram 11"/>
            <p:cNvSpPr/>
            <p:nvPr/>
          </p:nvSpPr>
          <p:spPr>
            <a:xfrm rot="16200000" flipV="1">
              <a:off x="2827948" y="757290"/>
              <a:ext cx="3411685" cy="2276476"/>
            </a:xfrm>
            <a:prstGeom prst="parallelogram">
              <a:avLst>
                <a:gd name="adj" fmla="val 57036"/>
              </a:avLst>
            </a:prstGeom>
            <a:solidFill>
              <a:srgbClr val="4EA72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3" name="Speech Bubble: Rectangle 51"/>
            <p:cNvSpPr/>
            <p:nvPr/>
          </p:nvSpPr>
          <p:spPr>
            <a:xfrm>
              <a:off x="5955162" y="1594209"/>
              <a:ext cx="1274770" cy="602638"/>
            </a:xfrm>
            <a:prstGeom prst="wedgeRectCallout">
              <a:avLst>
                <a:gd name="adj1" fmla="val -38878"/>
                <a:gd name="adj2" fmla="val 71591"/>
              </a:avLst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200" dirty="0">
                  <a:solidFill>
                    <a:srgbClr val="FF0000"/>
                  </a:solidFill>
                </a:rPr>
                <a:t>First Angle Projection</a:t>
              </a:r>
            </a:p>
          </p:txBody>
        </p:sp>
        <p:pic>
          <p:nvPicPr>
            <p:cNvPr id="14" name="Picture 13"/>
            <p:cNvPicPr>
              <a:picLocks noChangeAspect="1"/>
            </p:cNvPicPr>
            <p:nvPr/>
          </p:nvPicPr>
          <p:blipFill>
            <a:blip r:embed="rId3">
              <a:clrChange>
                <a:clrFrom>
                  <a:srgbClr val="156082"/>
                </a:clrFrom>
                <a:clrTo>
                  <a:srgbClr val="156082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 flipH="1">
              <a:off x="4238408" y="1452876"/>
              <a:ext cx="2108697" cy="2312320"/>
            </a:xfrm>
            <a:prstGeom prst="rect">
              <a:avLst/>
            </a:prstGeom>
          </p:spPr>
        </p:pic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12395" y="85090"/>
            <a:ext cx="591693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b="1" dirty="0"/>
              <a:t>Quadrant System and Orthographic Projection</a:t>
            </a:r>
            <a:endParaRPr lang="en-SG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5CC0B196-09CE-6129-9E08-BED42C926A36}"/>
              </a:ext>
            </a:extLst>
          </p:cNvPr>
          <p:cNvGrpSpPr/>
          <p:nvPr/>
        </p:nvGrpSpPr>
        <p:grpSpPr>
          <a:xfrm>
            <a:off x="2420893" y="0"/>
            <a:ext cx="3958402" cy="5245783"/>
            <a:chOff x="3031301" y="-282"/>
            <a:chExt cx="3958402" cy="5245783"/>
          </a:xfrm>
        </p:grpSpPr>
        <p:grpSp>
          <p:nvGrpSpPr>
            <p:cNvPr id="17" name="Group 16"/>
            <p:cNvGrpSpPr/>
            <p:nvPr/>
          </p:nvGrpSpPr>
          <p:grpSpPr>
            <a:xfrm>
              <a:off x="3031301" y="-282"/>
              <a:ext cx="3958402" cy="4633559"/>
              <a:chOff x="1837651" y="-646885"/>
              <a:chExt cx="5499293" cy="6437270"/>
            </a:xfrm>
          </p:grpSpPr>
          <p:pic>
            <p:nvPicPr>
              <p:cNvPr id="6" name="Picture 5"/>
              <p:cNvPicPr>
                <a:picLocks noChangeAspect="1"/>
              </p:cNvPicPr>
              <p:nvPr/>
            </p:nvPicPr>
            <p:blipFill>
              <a:blip r:embed="rId2">
                <a:clrChange>
                  <a:clrFrom>
                    <a:srgbClr val="156082"/>
                  </a:clrFrom>
                  <a:clrTo>
                    <a:srgbClr val="156082"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 flipH="1">
                <a:off x="1837651" y="3026502"/>
                <a:ext cx="2108697" cy="2312320"/>
              </a:xfrm>
              <a:prstGeom prst="rect">
                <a:avLst/>
              </a:prstGeom>
            </p:spPr>
          </p:pic>
          <p:sp>
            <p:nvSpPr>
              <p:cNvPr id="9" name="Parallelogram 8"/>
              <p:cNvSpPr/>
              <p:nvPr/>
            </p:nvSpPr>
            <p:spPr>
              <a:xfrm rot="16200000">
                <a:off x="2700133" y="702011"/>
                <a:ext cx="5985707" cy="3287915"/>
              </a:xfrm>
              <a:prstGeom prst="parallelogram">
                <a:avLst>
                  <a:gd name="adj" fmla="val 50708"/>
                </a:avLst>
              </a:prstGeom>
              <a:solidFill>
                <a:srgbClr val="4EA72E">
                  <a:alpha val="50196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0" name="Parallelogram 9"/>
              <p:cNvSpPr/>
              <p:nvPr/>
            </p:nvSpPr>
            <p:spPr>
              <a:xfrm rot="16200000" flipV="1">
                <a:off x="2788887" y="2907242"/>
                <a:ext cx="3480279" cy="2286007"/>
              </a:xfrm>
              <a:prstGeom prst="parallelogram">
                <a:avLst>
                  <a:gd name="adj" fmla="val 57036"/>
                </a:avLst>
              </a:prstGeom>
              <a:solidFill>
                <a:srgbClr val="4EA72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1" name="Parallelogram 10"/>
              <p:cNvSpPr/>
              <p:nvPr/>
            </p:nvSpPr>
            <p:spPr>
              <a:xfrm rot="9000000" flipV="1">
                <a:off x="2349326" y="1372596"/>
                <a:ext cx="4486946" cy="3248970"/>
              </a:xfrm>
              <a:prstGeom prst="parallelogram">
                <a:avLst>
                  <a:gd name="adj" fmla="val 58457"/>
                </a:avLst>
              </a:prstGeom>
              <a:solidFill>
                <a:srgbClr val="4EA72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2" name="Parallelogram 11"/>
              <p:cNvSpPr/>
              <p:nvPr/>
            </p:nvSpPr>
            <p:spPr>
              <a:xfrm rot="16200000" flipV="1">
                <a:off x="2827948" y="757290"/>
                <a:ext cx="3411685" cy="2276476"/>
              </a:xfrm>
              <a:prstGeom prst="parallelogram">
                <a:avLst>
                  <a:gd name="adj" fmla="val 57036"/>
                </a:avLst>
              </a:prstGeom>
              <a:solidFill>
                <a:srgbClr val="4EA72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pic>
            <p:nvPicPr>
              <p:cNvPr id="14" name="Picture 13"/>
              <p:cNvPicPr>
                <a:picLocks noChangeAspect="1"/>
              </p:cNvPicPr>
              <p:nvPr/>
            </p:nvPicPr>
            <p:blipFill>
              <a:blip r:embed="rId2">
                <a:clrChange>
                  <a:clrFrom>
                    <a:srgbClr val="156082"/>
                  </a:clrFrom>
                  <a:clrTo>
                    <a:srgbClr val="156082"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 flipH="1">
                <a:off x="4238408" y="1452876"/>
                <a:ext cx="2108697" cy="2312320"/>
              </a:xfrm>
              <a:prstGeom prst="rect">
                <a:avLst/>
              </a:prstGeom>
            </p:spPr>
          </p:pic>
        </p:grpSp>
        <p:sp>
          <p:nvSpPr>
            <p:cNvPr id="3" name="Parallelogram 2"/>
            <p:cNvSpPr/>
            <p:nvPr/>
          </p:nvSpPr>
          <p:spPr>
            <a:xfrm rot="16200000">
              <a:off x="2060808" y="1907916"/>
              <a:ext cx="4308523" cy="2366648"/>
            </a:xfrm>
            <a:prstGeom prst="parallelogram">
              <a:avLst>
                <a:gd name="adj" fmla="val 50708"/>
              </a:avLst>
            </a:prstGeom>
            <a:solidFill>
              <a:srgbClr val="4EA72E">
                <a:alpha val="50196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8265575-8288-2C46-4A80-341FE00C22ED}"/>
              </a:ext>
            </a:extLst>
          </p:cNvPr>
          <p:cNvGrpSpPr/>
          <p:nvPr/>
        </p:nvGrpSpPr>
        <p:grpSpPr>
          <a:xfrm>
            <a:off x="6506558" y="93874"/>
            <a:ext cx="2459461" cy="2477876"/>
            <a:chOff x="315408" y="1303370"/>
            <a:chExt cx="2979599" cy="3001908"/>
          </a:xfrm>
        </p:grpSpPr>
        <p:sp>
          <p:nvSpPr>
            <p:cNvPr id="31" name="Parallelogram 30">
              <a:extLst>
                <a:ext uri="{FF2B5EF4-FFF2-40B4-BE49-F238E27FC236}">
                  <a16:creationId xmlns:a16="http://schemas.microsoft.com/office/drawing/2014/main" id="{6769316D-3409-207B-2AE3-FCF8F8CA129C}"/>
                </a:ext>
              </a:extLst>
            </p:cNvPr>
            <p:cNvSpPr/>
            <p:nvPr/>
          </p:nvSpPr>
          <p:spPr>
            <a:xfrm rot="16200000">
              <a:off x="1498475" y="1755625"/>
              <a:ext cx="2043968" cy="1139458"/>
            </a:xfrm>
            <a:prstGeom prst="parallelogram">
              <a:avLst>
                <a:gd name="adj" fmla="val 56363"/>
              </a:avLst>
            </a:prstGeom>
            <a:solidFill>
              <a:schemeClr val="tx1"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32" name="Parallelogram 31">
              <a:extLst>
                <a:ext uri="{FF2B5EF4-FFF2-40B4-BE49-F238E27FC236}">
                  <a16:creationId xmlns:a16="http://schemas.microsoft.com/office/drawing/2014/main" id="{0F87CE91-32EC-CAC6-2E0F-05C016254F0F}"/>
                </a:ext>
              </a:extLst>
            </p:cNvPr>
            <p:cNvSpPr/>
            <p:nvPr/>
          </p:nvSpPr>
          <p:spPr>
            <a:xfrm rot="16200000" flipV="1">
              <a:off x="63147" y="1683781"/>
              <a:ext cx="2267991" cy="1507169"/>
            </a:xfrm>
            <a:prstGeom prst="parallelogram">
              <a:avLst>
                <a:gd name="adj" fmla="val 57036"/>
              </a:avLst>
            </a:prstGeom>
            <a:solidFill>
              <a:srgbClr val="92D05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FEAC7E2D-3849-A512-3D1A-6504E95C5715}"/>
                </a:ext>
              </a:extLst>
            </p:cNvPr>
            <p:cNvGrpSpPr/>
            <p:nvPr/>
          </p:nvGrpSpPr>
          <p:grpSpPr>
            <a:xfrm>
              <a:off x="315408" y="1388574"/>
              <a:ext cx="2979599" cy="2916704"/>
              <a:chOff x="315408" y="1388574"/>
              <a:chExt cx="2979599" cy="2916704"/>
            </a:xfrm>
          </p:grpSpPr>
          <p:sp>
            <p:nvSpPr>
              <p:cNvPr id="34" name="Parallelogram 33">
                <a:extLst>
                  <a:ext uri="{FF2B5EF4-FFF2-40B4-BE49-F238E27FC236}">
                    <a16:creationId xmlns:a16="http://schemas.microsoft.com/office/drawing/2014/main" id="{7E8FCDCB-E77F-AF6B-B403-AFA0E24C21A3}"/>
                  </a:ext>
                </a:extLst>
              </p:cNvPr>
              <p:cNvSpPr/>
              <p:nvPr/>
            </p:nvSpPr>
            <p:spPr>
              <a:xfrm rot="9000000" flipV="1">
                <a:off x="568035" y="2893440"/>
                <a:ext cx="2397677" cy="1140356"/>
              </a:xfrm>
              <a:prstGeom prst="parallelogram">
                <a:avLst>
                  <a:gd name="adj" fmla="val 58457"/>
                </a:avLst>
              </a:prstGeom>
              <a:solidFill>
                <a:srgbClr val="92D050">
                  <a:alpha val="5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754027F5-DD62-A23E-B9E0-C505D9BAFCB6}"/>
                  </a:ext>
                </a:extLst>
              </p:cNvPr>
              <p:cNvSpPr txBox="1"/>
              <p:nvPr/>
            </p:nvSpPr>
            <p:spPr>
              <a:xfrm>
                <a:off x="2591140" y="3883891"/>
                <a:ext cx="29290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b="1">
                    <a:solidFill>
                      <a:srgbClr val="FF0000"/>
                    </a:solidFill>
                  </a:rPr>
                  <a:t>T</a:t>
                </a:r>
                <a:endParaRPr lang="en-GB" b="1">
                  <a:solidFill>
                    <a:srgbClr val="FF0000"/>
                  </a:solidFill>
                </a:endParaRP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D024CDD4-394C-A224-1D5F-E0446755AA4E}"/>
                  </a:ext>
                </a:extLst>
              </p:cNvPr>
              <p:cNvCxnSpPr/>
              <p:nvPr/>
            </p:nvCxnSpPr>
            <p:spPr>
              <a:xfrm flipH="1" flipV="1">
                <a:off x="2205833" y="3540232"/>
                <a:ext cx="412121" cy="363546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767E45C-FBCA-EB82-6A34-F081F41EAB70}"/>
                  </a:ext>
                </a:extLst>
              </p:cNvPr>
              <p:cNvSpPr txBox="1"/>
              <p:nvPr/>
            </p:nvSpPr>
            <p:spPr>
              <a:xfrm>
                <a:off x="326101" y="3935946"/>
                <a:ext cx="52022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b="1">
                    <a:solidFill>
                      <a:srgbClr val="FF0000"/>
                    </a:solidFill>
                  </a:rPr>
                  <a:t>S1</a:t>
                </a:r>
                <a:endParaRPr lang="en-GB" b="1">
                  <a:solidFill>
                    <a:srgbClr val="FF0000"/>
                  </a:solidFill>
                </a:endParaRPr>
              </a:p>
            </p:txBody>
          </p: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DA5DE176-8CD8-1FEC-6C98-CAB8EC1175D4}"/>
                  </a:ext>
                </a:extLst>
              </p:cNvPr>
              <p:cNvCxnSpPr/>
              <p:nvPr/>
            </p:nvCxnSpPr>
            <p:spPr>
              <a:xfrm>
                <a:off x="1618230" y="1715098"/>
                <a:ext cx="0" cy="546546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B86F2D0E-4348-2A39-0A59-CB22007BF274}"/>
                  </a:ext>
                </a:extLst>
              </p:cNvPr>
              <p:cNvSpPr txBox="1"/>
              <p:nvPr/>
            </p:nvSpPr>
            <p:spPr>
              <a:xfrm>
                <a:off x="1522717" y="1388574"/>
                <a:ext cx="29290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b="1">
                    <a:solidFill>
                      <a:srgbClr val="FF0000"/>
                    </a:solidFill>
                  </a:rPr>
                  <a:t>P</a:t>
                </a:r>
                <a:endParaRPr lang="en-GB" b="1">
                  <a:solidFill>
                    <a:srgbClr val="FF0000"/>
                  </a:solidFill>
                </a:endParaRPr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0C0C1ABF-9471-F33E-9D94-40447375B37A}"/>
                  </a:ext>
                </a:extLst>
              </p:cNvPr>
              <p:cNvSpPr txBox="1"/>
              <p:nvPr/>
            </p:nvSpPr>
            <p:spPr>
              <a:xfrm>
                <a:off x="2251601" y="2008966"/>
                <a:ext cx="95326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400"/>
                  <a:t>Base</a:t>
                </a:r>
              </a:p>
            </p:txBody>
          </p:sp>
          <p:sp>
            <p:nvSpPr>
              <p:cNvPr id="41" name="Arrow: Curved Right 60">
                <a:extLst>
                  <a:ext uri="{FF2B5EF4-FFF2-40B4-BE49-F238E27FC236}">
                    <a16:creationId xmlns:a16="http://schemas.microsoft.com/office/drawing/2014/main" id="{5954BDB0-8E2B-9B77-5980-921A0CA8469F}"/>
                  </a:ext>
                </a:extLst>
              </p:cNvPr>
              <p:cNvSpPr/>
              <p:nvPr/>
            </p:nvSpPr>
            <p:spPr>
              <a:xfrm rot="16970471">
                <a:off x="1867471" y="1786741"/>
                <a:ext cx="155357" cy="345075"/>
              </a:xfrm>
              <a:prstGeom prst="curvedRightArrow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400">
                  <a:solidFill>
                    <a:schemeClr val="tx1"/>
                  </a:solidFill>
                </a:endParaRPr>
              </a:p>
            </p:txBody>
          </p:sp>
          <p:sp>
            <p:nvSpPr>
              <p:cNvPr id="42" name="Arrow: Curved Right 61">
                <a:extLst>
                  <a:ext uri="{FF2B5EF4-FFF2-40B4-BE49-F238E27FC236}">
                    <a16:creationId xmlns:a16="http://schemas.microsoft.com/office/drawing/2014/main" id="{B9E731AC-0A7B-A25D-5ACB-3C09B5B97C9B}"/>
                  </a:ext>
                </a:extLst>
              </p:cNvPr>
              <p:cNvSpPr/>
              <p:nvPr/>
            </p:nvSpPr>
            <p:spPr>
              <a:xfrm rot="12042724" flipV="1">
                <a:off x="1327710" y="2912592"/>
                <a:ext cx="194679" cy="347097"/>
              </a:xfrm>
              <a:prstGeom prst="curvedRightArrow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400">
                  <a:solidFill>
                    <a:schemeClr val="tx1"/>
                  </a:solidFill>
                </a:endParaRP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531714C-55F5-A9FE-03F4-928335AD5C1D}"/>
                  </a:ext>
                </a:extLst>
              </p:cNvPr>
              <p:cNvSpPr txBox="1"/>
              <p:nvPr/>
            </p:nvSpPr>
            <p:spPr>
              <a:xfrm>
                <a:off x="1682115" y="3059430"/>
                <a:ext cx="1139190" cy="5219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400"/>
                  <a:t>Horizontal partition </a:t>
                </a: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1985E9E-DB36-590C-DF08-1317E1447E77}"/>
                  </a:ext>
                </a:extLst>
              </p:cNvPr>
              <p:cNvSpPr txBox="1"/>
              <p:nvPr/>
            </p:nvSpPr>
            <p:spPr>
              <a:xfrm>
                <a:off x="1157959" y="2236859"/>
                <a:ext cx="95326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400"/>
                  <a:t>Vertical partition </a:t>
                </a:r>
              </a:p>
            </p:txBody>
          </p:sp>
          <p:sp>
            <p:nvSpPr>
              <p:cNvPr id="45" name="Parallelogram 44">
                <a:extLst>
                  <a:ext uri="{FF2B5EF4-FFF2-40B4-BE49-F238E27FC236}">
                    <a16:creationId xmlns:a16="http://schemas.microsoft.com/office/drawing/2014/main" id="{88140ECB-0FE2-917C-25FF-F8743F617CCB}"/>
                  </a:ext>
                </a:extLst>
              </p:cNvPr>
              <p:cNvSpPr/>
              <p:nvPr/>
            </p:nvSpPr>
            <p:spPr>
              <a:xfrm rot="16200000">
                <a:off x="-16092" y="2617228"/>
                <a:ext cx="2043968" cy="1139458"/>
              </a:xfrm>
              <a:prstGeom prst="parallelogram">
                <a:avLst>
                  <a:gd name="adj" fmla="val 56363"/>
                </a:avLst>
              </a:prstGeom>
              <a:solidFill>
                <a:srgbClr val="92D050">
                  <a:alpha val="5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41E3ECF6-C50E-3F93-CB11-9585A9DEA2DC}"/>
                  </a:ext>
                </a:extLst>
              </p:cNvPr>
              <p:cNvSpPr txBox="1"/>
              <p:nvPr/>
            </p:nvSpPr>
            <p:spPr>
              <a:xfrm>
                <a:off x="1024541" y="3482022"/>
                <a:ext cx="95326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400"/>
                  <a:t>Lid</a:t>
                </a:r>
              </a:p>
            </p:txBody>
          </p:sp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id="{2F7CBD8F-433F-DE99-21B3-169768198B55}"/>
                  </a:ext>
                </a:extLst>
              </p:cNvPr>
              <p:cNvCxnSpPr/>
              <p:nvPr/>
            </p:nvCxnSpPr>
            <p:spPr>
              <a:xfrm flipV="1">
                <a:off x="432351" y="3571361"/>
                <a:ext cx="520227" cy="380450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Arrow Connector 47">
                <a:extLst>
                  <a:ext uri="{FF2B5EF4-FFF2-40B4-BE49-F238E27FC236}">
                    <a16:creationId xmlns:a16="http://schemas.microsoft.com/office/drawing/2014/main" id="{934B7591-749B-DC79-5C50-FBBB37E01494}"/>
                  </a:ext>
                </a:extLst>
              </p:cNvPr>
              <p:cNvCxnSpPr/>
              <p:nvPr/>
            </p:nvCxnSpPr>
            <p:spPr>
              <a:xfrm flipH="1">
                <a:off x="2432594" y="2276662"/>
                <a:ext cx="407040" cy="342073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911B148C-6BBF-458F-A907-822B6A13C0CA}"/>
                  </a:ext>
                </a:extLst>
              </p:cNvPr>
              <p:cNvSpPr txBox="1"/>
              <p:nvPr/>
            </p:nvSpPr>
            <p:spPr>
              <a:xfrm>
                <a:off x="2849431" y="2034655"/>
                <a:ext cx="44557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b="1">
                    <a:solidFill>
                      <a:srgbClr val="FF0000"/>
                    </a:solidFill>
                  </a:rPr>
                  <a:t>S2</a:t>
                </a:r>
                <a:endParaRPr lang="en-GB" b="1">
                  <a:solidFill>
                    <a:srgbClr val="FF0000"/>
                  </a:solidFill>
                </a:endParaRPr>
              </a:p>
            </p:txBody>
          </p:sp>
          <p:sp>
            <p:nvSpPr>
              <p:cNvPr id="50" name="Arrow: Curved Right 100">
                <a:extLst>
                  <a:ext uri="{FF2B5EF4-FFF2-40B4-BE49-F238E27FC236}">
                    <a16:creationId xmlns:a16="http://schemas.microsoft.com/office/drawing/2014/main" id="{D786AACC-2DDD-D4B8-315A-29B6CED9953D}"/>
                  </a:ext>
                </a:extLst>
              </p:cNvPr>
              <p:cNvSpPr/>
              <p:nvPr/>
            </p:nvSpPr>
            <p:spPr>
              <a:xfrm rot="13634337" flipV="1">
                <a:off x="384214" y="2783169"/>
                <a:ext cx="155357" cy="292970"/>
              </a:xfrm>
              <a:prstGeom prst="curvedRightArrow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400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84533939-60B8-6B3E-D708-F938F3E44222}"/>
              </a:ext>
            </a:extLst>
          </p:cNvPr>
          <p:cNvGrpSpPr/>
          <p:nvPr/>
        </p:nvGrpSpPr>
        <p:grpSpPr>
          <a:xfrm>
            <a:off x="79401" y="2492231"/>
            <a:ext cx="2213324" cy="2372530"/>
            <a:chOff x="98376" y="1124589"/>
            <a:chExt cx="3263662" cy="3498421"/>
          </a:xfrm>
        </p:grpSpPr>
        <p:sp>
          <p:nvSpPr>
            <p:cNvPr id="90" name="Parallelogram 89">
              <a:extLst>
                <a:ext uri="{FF2B5EF4-FFF2-40B4-BE49-F238E27FC236}">
                  <a16:creationId xmlns:a16="http://schemas.microsoft.com/office/drawing/2014/main" id="{6FCFC4FB-E3C9-4933-212C-2E87EF81AE68}"/>
                </a:ext>
              </a:extLst>
            </p:cNvPr>
            <p:cNvSpPr/>
            <p:nvPr/>
          </p:nvSpPr>
          <p:spPr>
            <a:xfrm rot="9000000" flipV="1">
              <a:off x="369481" y="1486622"/>
              <a:ext cx="2573047" cy="1223764"/>
            </a:xfrm>
            <a:prstGeom prst="parallelogram">
              <a:avLst>
                <a:gd name="adj" fmla="val 58457"/>
              </a:avLst>
            </a:prstGeom>
            <a:solidFill>
              <a:srgbClr val="00B0F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DDE6AD9D-0256-5D33-A125-63E0D8F787AF}"/>
                </a:ext>
              </a:extLst>
            </p:cNvPr>
            <p:cNvGrpSpPr/>
            <p:nvPr/>
          </p:nvGrpSpPr>
          <p:grpSpPr>
            <a:xfrm>
              <a:off x="98376" y="1124589"/>
              <a:ext cx="3263662" cy="3498421"/>
              <a:chOff x="98375" y="1099208"/>
              <a:chExt cx="3263662" cy="3498421"/>
            </a:xfrm>
          </p:grpSpPr>
          <p:sp>
            <p:nvSpPr>
              <p:cNvPr id="92" name="Parallelogram 91">
                <a:extLst>
                  <a:ext uri="{FF2B5EF4-FFF2-40B4-BE49-F238E27FC236}">
                    <a16:creationId xmlns:a16="http://schemas.microsoft.com/office/drawing/2014/main" id="{DED46A52-1417-6D8C-B824-33AF351EC966}"/>
                  </a:ext>
                </a:extLst>
              </p:cNvPr>
              <p:cNvSpPr/>
              <p:nvPr/>
            </p:nvSpPr>
            <p:spPr>
              <a:xfrm rot="16200000" flipV="1">
                <a:off x="1044313" y="2363057"/>
                <a:ext cx="2433876" cy="1617406"/>
              </a:xfrm>
              <a:prstGeom prst="parallelogram">
                <a:avLst>
                  <a:gd name="adj" fmla="val 57036"/>
                </a:avLst>
              </a:prstGeom>
              <a:solidFill>
                <a:srgbClr val="00B0F0">
                  <a:alpha val="5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sp>
            <p:nvSpPr>
              <p:cNvPr id="93" name="Parallelogram 92">
                <a:extLst>
                  <a:ext uri="{FF2B5EF4-FFF2-40B4-BE49-F238E27FC236}">
                    <a16:creationId xmlns:a16="http://schemas.microsoft.com/office/drawing/2014/main" id="{2B3B6692-319D-AD4D-2D58-DAA988B1E3BC}"/>
                  </a:ext>
                </a:extLst>
              </p:cNvPr>
              <p:cNvSpPr/>
              <p:nvPr/>
            </p:nvSpPr>
            <p:spPr>
              <a:xfrm rot="16200000">
                <a:off x="-250537" y="2676409"/>
                <a:ext cx="2193467" cy="1222800"/>
              </a:xfrm>
              <a:prstGeom prst="parallelogram">
                <a:avLst>
                  <a:gd name="adj" fmla="val 56363"/>
                </a:avLst>
              </a:prstGeom>
              <a:solidFill>
                <a:srgbClr val="00B0F0">
                  <a:alpha val="5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sp>
            <p:nvSpPr>
              <p:cNvPr id="94" name="Parallelogram 93">
                <a:extLst>
                  <a:ext uri="{FF2B5EF4-FFF2-40B4-BE49-F238E27FC236}">
                    <a16:creationId xmlns:a16="http://schemas.microsoft.com/office/drawing/2014/main" id="{25A6343C-7522-787A-091B-BAC6BD21A959}"/>
                  </a:ext>
                </a:extLst>
              </p:cNvPr>
              <p:cNvSpPr/>
              <p:nvPr/>
            </p:nvSpPr>
            <p:spPr>
              <a:xfrm rot="16200000">
                <a:off x="1367974" y="1758621"/>
                <a:ext cx="2193467" cy="1222800"/>
              </a:xfrm>
              <a:prstGeom prst="parallelogram">
                <a:avLst>
                  <a:gd name="adj" fmla="val 56363"/>
                </a:avLst>
              </a:prstGeom>
              <a:solidFill>
                <a:schemeClr val="tx1">
                  <a:alpha val="5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2DAF35D8-B290-88CE-315E-A42927E2A818}"/>
                  </a:ext>
                </a:extLst>
              </p:cNvPr>
              <p:cNvSpPr txBox="1"/>
              <p:nvPr/>
            </p:nvSpPr>
            <p:spPr>
              <a:xfrm>
                <a:off x="2540560" y="4042552"/>
                <a:ext cx="3143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600" b="1">
                    <a:solidFill>
                      <a:srgbClr val="FF0000"/>
                    </a:solidFill>
                  </a:rPr>
                  <a:t>T</a:t>
                </a:r>
                <a:endParaRPr lang="en-GB" sz="1600" b="1">
                  <a:solidFill>
                    <a:srgbClr val="FF0000"/>
                  </a:solidFill>
                </a:endParaRPr>
              </a:p>
            </p:txBody>
          </p:sp>
          <p:cxnSp>
            <p:nvCxnSpPr>
              <p:cNvPr id="96" name="Straight Arrow Connector 95">
                <a:extLst>
                  <a:ext uri="{FF2B5EF4-FFF2-40B4-BE49-F238E27FC236}">
                    <a16:creationId xmlns:a16="http://schemas.microsoft.com/office/drawing/2014/main" id="{4712578A-24FD-C42C-25A2-FF521688B80B}"/>
                  </a:ext>
                </a:extLst>
              </p:cNvPr>
              <p:cNvCxnSpPr/>
              <p:nvPr/>
            </p:nvCxnSpPr>
            <p:spPr>
              <a:xfrm flipH="1" flipV="1">
                <a:off x="2127070" y="3673757"/>
                <a:ext cx="442264" cy="390137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113BF5E4-A8AC-125F-989C-D70DC3C0C3BC}"/>
                  </a:ext>
                </a:extLst>
              </p:cNvPr>
              <p:cNvSpPr txBox="1"/>
              <p:nvPr/>
            </p:nvSpPr>
            <p:spPr>
              <a:xfrm>
                <a:off x="109851" y="4098413"/>
                <a:ext cx="663591" cy="4992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600" b="1" dirty="0">
                    <a:solidFill>
                      <a:srgbClr val="FF0000"/>
                    </a:solidFill>
                  </a:rPr>
                  <a:t>S1</a:t>
                </a:r>
                <a:endParaRPr lang="en-GB" sz="1600" b="1" dirty="0">
                  <a:solidFill>
                    <a:srgbClr val="FF0000"/>
                  </a:solidFill>
                </a:endParaRPr>
              </a:p>
            </p:txBody>
          </p:sp>
          <p:cxnSp>
            <p:nvCxnSpPr>
              <p:cNvPr id="98" name="Straight Arrow Connector 97">
                <a:extLst>
                  <a:ext uri="{FF2B5EF4-FFF2-40B4-BE49-F238E27FC236}">
                    <a16:creationId xmlns:a16="http://schemas.microsoft.com/office/drawing/2014/main" id="{9A5183AE-0CA5-AB3B-BFF4-B5D5F9A5BE0A}"/>
                  </a:ext>
                </a:extLst>
              </p:cNvPr>
              <p:cNvCxnSpPr/>
              <p:nvPr/>
            </p:nvCxnSpPr>
            <p:spPr>
              <a:xfrm>
                <a:off x="1453300" y="1471539"/>
                <a:ext cx="0" cy="586521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D3D0926C-67D9-604F-8090-1C31162D1EE3}"/>
                  </a:ext>
                </a:extLst>
              </p:cNvPr>
              <p:cNvSpPr txBox="1"/>
              <p:nvPr/>
            </p:nvSpPr>
            <p:spPr>
              <a:xfrm>
                <a:off x="1340510" y="1099208"/>
                <a:ext cx="3143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600" b="1">
                    <a:solidFill>
                      <a:srgbClr val="FF0000"/>
                    </a:solidFill>
                  </a:rPr>
                  <a:t>P</a:t>
                </a:r>
                <a:endParaRPr lang="en-GB" sz="1600" b="1">
                  <a:solidFill>
                    <a:srgbClr val="FF0000"/>
                  </a:solidFill>
                </a:endParaRPr>
              </a:p>
            </p:txBody>
          </p:sp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6EE1006F-0098-C6C0-FB50-C67A80ABD7FD}"/>
                  </a:ext>
                </a:extLst>
              </p:cNvPr>
              <p:cNvSpPr txBox="1"/>
              <p:nvPr/>
            </p:nvSpPr>
            <p:spPr>
              <a:xfrm>
                <a:off x="2176185" y="2030492"/>
                <a:ext cx="1022991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200"/>
                  <a:t>Base</a:t>
                </a:r>
              </a:p>
            </p:txBody>
          </p:sp>
          <p:sp>
            <p:nvSpPr>
              <p:cNvPr id="101" name="Arrow: Curved Right 60">
                <a:extLst>
                  <a:ext uri="{FF2B5EF4-FFF2-40B4-BE49-F238E27FC236}">
                    <a16:creationId xmlns:a16="http://schemas.microsoft.com/office/drawing/2014/main" id="{689112FB-96A9-B744-5E57-5E689791F071}"/>
                  </a:ext>
                </a:extLst>
              </p:cNvPr>
              <p:cNvSpPr/>
              <p:nvPr/>
            </p:nvSpPr>
            <p:spPr>
              <a:xfrm rot="16970471">
                <a:off x="1763959" y="1792013"/>
                <a:ext cx="166720" cy="370315"/>
              </a:xfrm>
              <a:prstGeom prst="curvedRightArrow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200">
                  <a:solidFill>
                    <a:schemeClr val="tx1"/>
                  </a:solidFill>
                </a:endParaRPr>
              </a:p>
            </p:txBody>
          </p:sp>
          <p:sp>
            <p:nvSpPr>
              <p:cNvPr id="102" name="Arrow: Curved Right 61">
                <a:extLst>
                  <a:ext uri="{FF2B5EF4-FFF2-40B4-BE49-F238E27FC236}">
                    <a16:creationId xmlns:a16="http://schemas.microsoft.com/office/drawing/2014/main" id="{16C1BB66-3BE5-659C-9224-9498F9806D51}"/>
                  </a:ext>
                </a:extLst>
              </p:cNvPr>
              <p:cNvSpPr/>
              <p:nvPr/>
            </p:nvSpPr>
            <p:spPr>
              <a:xfrm rot="12042724" flipV="1">
                <a:off x="1184719" y="3000210"/>
                <a:ext cx="208918" cy="372484"/>
              </a:xfrm>
              <a:prstGeom prst="curvedRightArrow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200">
                  <a:solidFill>
                    <a:schemeClr val="tx1"/>
                  </a:solidFill>
                </a:endParaRPr>
              </a:p>
            </p:txBody>
          </p:sp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7882083E-B5C5-ECBF-1A41-42621621F0B7}"/>
                  </a:ext>
                </a:extLst>
              </p:cNvPr>
              <p:cNvSpPr txBox="1"/>
              <p:nvPr/>
            </p:nvSpPr>
            <p:spPr>
              <a:xfrm>
                <a:off x="899747" y="2051767"/>
                <a:ext cx="102299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200"/>
                  <a:t>Horizontal partition </a:t>
                </a:r>
              </a:p>
            </p:txBody>
          </p:sp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703AD0BD-4601-5BFB-575C-5BF19BD17B27}"/>
                  </a:ext>
                </a:extLst>
              </p:cNvPr>
              <p:cNvSpPr txBox="1"/>
              <p:nvPr/>
            </p:nvSpPr>
            <p:spPr>
              <a:xfrm>
                <a:off x="1664822" y="3034297"/>
                <a:ext cx="102299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200"/>
                  <a:t>Vertical partition </a:t>
                </a:r>
              </a:p>
            </p:txBody>
          </p:sp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B3C26E72-B7B5-25F3-C954-52007940DF54}"/>
                  </a:ext>
                </a:extLst>
              </p:cNvPr>
              <p:cNvSpPr txBox="1"/>
              <p:nvPr/>
            </p:nvSpPr>
            <p:spPr>
              <a:xfrm>
                <a:off x="859376" y="3611289"/>
                <a:ext cx="1022991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200"/>
                  <a:t>Lid</a:t>
                </a:r>
              </a:p>
            </p:txBody>
          </p:sp>
          <p:cxnSp>
            <p:nvCxnSpPr>
              <p:cNvPr id="106" name="Straight Arrow Connector 105">
                <a:extLst>
                  <a:ext uri="{FF2B5EF4-FFF2-40B4-BE49-F238E27FC236}">
                    <a16:creationId xmlns:a16="http://schemas.microsoft.com/office/drawing/2014/main" id="{AA5B0A35-AD01-6A50-57F8-46624D0E1DDA}"/>
                  </a:ext>
                </a:extLst>
              </p:cNvPr>
              <p:cNvCxnSpPr/>
              <p:nvPr/>
            </p:nvCxnSpPr>
            <p:spPr>
              <a:xfrm flipV="1">
                <a:off x="223872" y="3707163"/>
                <a:ext cx="558277" cy="408277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Straight Arrow Connector 106">
                <a:extLst>
                  <a:ext uri="{FF2B5EF4-FFF2-40B4-BE49-F238E27FC236}">
                    <a16:creationId xmlns:a16="http://schemas.microsoft.com/office/drawing/2014/main" id="{3DFC2E09-1A50-2EEB-A3DD-DDF6EF119B5D}"/>
                  </a:ext>
                </a:extLst>
              </p:cNvPr>
              <p:cNvCxnSpPr/>
              <p:nvPr/>
            </p:nvCxnSpPr>
            <p:spPr>
              <a:xfrm flipH="1">
                <a:off x="2370417" y="2317767"/>
                <a:ext cx="436811" cy="367093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7C48D5CE-5D05-FBA0-EB3B-4FBF11279C41}"/>
                  </a:ext>
                </a:extLst>
              </p:cNvPr>
              <p:cNvSpPr txBox="1"/>
              <p:nvPr/>
            </p:nvSpPr>
            <p:spPr>
              <a:xfrm>
                <a:off x="2699522" y="2372027"/>
                <a:ext cx="662515" cy="4992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600" b="1" dirty="0">
                    <a:solidFill>
                      <a:srgbClr val="FF0000"/>
                    </a:solidFill>
                  </a:rPr>
                  <a:t>S2</a:t>
                </a:r>
                <a:endParaRPr lang="en-GB" sz="1600" b="1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109" name="Arrow: Curved Right 100">
                <a:extLst>
                  <a:ext uri="{FF2B5EF4-FFF2-40B4-BE49-F238E27FC236}">
                    <a16:creationId xmlns:a16="http://schemas.microsoft.com/office/drawing/2014/main" id="{BE627A71-AAF9-5939-8D0E-CA5C7ABB2AEA}"/>
                  </a:ext>
                </a:extLst>
              </p:cNvPr>
              <p:cNvSpPr/>
              <p:nvPr/>
            </p:nvSpPr>
            <p:spPr>
              <a:xfrm rot="13634337" flipV="1">
                <a:off x="172215" y="2861320"/>
                <a:ext cx="166720" cy="314399"/>
              </a:xfrm>
              <a:prstGeom prst="curvedRightArrow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200">
                  <a:solidFill>
                    <a:schemeClr val="tx1"/>
                  </a:solidFill>
                </a:endParaRPr>
              </a:p>
            </p:txBody>
          </p:sp>
        </p:grp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12395" y="85090"/>
            <a:ext cx="665480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b="1" dirty="0"/>
              <a:t>Quadrant System and Orthographic Projection</a:t>
            </a:r>
            <a:endParaRPr lang="en-SG" dirty="0"/>
          </a:p>
        </p:txBody>
      </p:sp>
      <p:sp>
        <p:nvSpPr>
          <p:cNvPr id="6" name="TextBox 5"/>
          <p:cNvSpPr txBox="1"/>
          <p:nvPr/>
        </p:nvSpPr>
        <p:spPr>
          <a:xfrm>
            <a:off x="206341" y="617664"/>
            <a:ext cx="28091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First Angle Projection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71878" y="617664"/>
            <a:ext cx="28091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Third Angle Projection</a:t>
            </a:r>
          </a:p>
        </p:txBody>
      </p:sp>
      <p:sp>
        <p:nvSpPr>
          <p:cNvPr id="8" name="Parallelogram 7"/>
          <p:cNvSpPr/>
          <p:nvPr/>
        </p:nvSpPr>
        <p:spPr>
          <a:xfrm rot="16200000" flipV="1">
            <a:off x="250546" y="1605818"/>
            <a:ext cx="1866783" cy="955648"/>
          </a:xfrm>
          <a:prstGeom prst="parallelogram">
            <a:avLst>
              <a:gd name="adj" fmla="val 57036"/>
            </a:avLst>
          </a:prstGeom>
          <a:solidFill>
            <a:srgbClr val="4EA72E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arallelogram 8"/>
          <p:cNvSpPr/>
          <p:nvPr/>
        </p:nvSpPr>
        <p:spPr>
          <a:xfrm rot="16200000" flipV="1">
            <a:off x="700733" y="1835576"/>
            <a:ext cx="969152" cy="496131"/>
          </a:xfrm>
          <a:prstGeom prst="parallelogram">
            <a:avLst>
              <a:gd name="adj" fmla="val 57036"/>
            </a:avLst>
          </a:prstGeom>
          <a:solidFill>
            <a:srgbClr val="AED5A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arallelogram 9"/>
          <p:cNvSpPr/>
          <p:nvPr/>
        </p:nvSpPr>
        <p:spPr>
          <a:xfrm rot="16200000" flipV="1">
            <a:off x="943021" y="2077864"/>
            <a:ext cx="484576" cy="496131"/>
          </a:xfrm>
          <a:prstGeom prst="parallelogram">
            <a:avLst>
              <a:gd name="adj" fmla="val 57036"/>
            </a:avLst>
          </a:prstGeom>
          <a:solidFill>
            <a:srgbClr val="AED5A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3D Model 10" descr="Skydiver Male"/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2791" y="2762100"/>
            <a:ext cx="545703" cy="1624707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1402111" y="2083641"/>
            <a:ext cx="1237429" cy="1356919"/>
          </a:xfrm>
          <a:prstGeom prst="rect">
            <a:avLst/>
          </a:prstGeom>
        </p:spPr>
      </p:pic>
      <p:pic>
        <p:nvPicPr>
          <p:cNvPr id="16" name="Picture 15"/>
          <p:cNvPicPr>
            <a:picLocks noChangeAspect="1"/>
          </p:cNvPicPr>
          <p:nvPr/>
        </p:nvPicPr>
        <p:blipFill>
          <a:blip r:embed="rId3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4439001" y="1055413"/>
            <a:ext cx="1237429" cy="1356919"/>
          </a:xfrm>
          <a:prstGeom prst="rect">
            <a:avLst/>
          </a:prstGeom>
        </p:spPr>
      </p:pic>
      <p:grpSp>
        <p:nvGrpSpPr>
          <p:cNvPr id="17" name="Group 16"/>
          <p:cNvGrpSpPr/>
          <p:nvPr/>
        </p:nvGrpSpPr>
        <p:grpSpPr>
          <a:xfrm>
            <a:off x="5377883" y="1241267"/>
            <a:ext cx="955648" cy="1866783"/>
            <a:chOff x="4750824" y="986995"/>
            <a:chExt cx="955648" cy="1866783"/>
          </a:xfrm>
        </p:grpSpPr>
        <p:sp>
          <p:nvSpPr>
            <p:cNvPr id="12" name="Parallelogram 11"/>
            <p:cNvSpPr/>
            <p:nvPr/>
          </p:nvSpPr>
          <p:spPr>
            <a:xfrm rot="16200000" flipV="1">
              <a:off x="4295256" y="1442563"/>
              <a:ext cx="1866783" cy="955648"/>
            </a:xfrm>
            <a:prstGeom prst="parallelogram">
              <a:avLst>
                <a:gd name="adj" fmla="val 57036"/>
              </a:avLst>
            </a:prstGeom>
            <a:solidFill>
              <a:srgbClr val="4EA72E">
                <a:alpha val="50196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Parallelogram 12"/>
            <p:cNvSpPr/>
            <p:nvPr/>
          </p:nvSpPr>
          <p:spPr>
            <a:xfrm rot="16200000" flipV="1">
              <a:off x="4745443" y="1672321"/>
              <a:ext cx="969152" cy="496131"/>
            </a:xfrm>
            <a:prstGeom prst="parallelogram">
              <a:avLst>
                <a:gd name="adj" fmla="val 57036"/>
              </a:avLst>
            </a:prstGeom>
            <a:solidFill>
              <a:srgbClr val="AED5A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Parallelogram 13"/>
            <p:cNvSpPr/>
            <p:nvPr/>
          </p:nvSpPr>
          <p:spPr>
            <a:xfrm rot="16200000" flipV="1">
              <a:off x="4987731" y="1914609"/>
              <a:ext cx="484576" cy="496131"/>
            </a:xfrm>
            <a:prstGeom prst="parallelogram">
              <a:avLst>
                <a:gd name="adj" fmla="val 57036"/>
              </a:avLst>
            </a:prstGeom>
            <a:solidFill>
              <a:srgbClr val="AED5A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8" name="Straight Arrow Connector 17"/>
          <p:cNvCxnSpPr/>
          <p:nvPr/>
        </p:nvCxnSpPr>
        <p:spPr>
          <a:xfrm flipH="1" flipV="1">
            <a:off x="2693581" y="2621532"/>
            <a:ext cx="599539" cy="36353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" name="3D Model 19" descr="Skydiver Male"/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6186" y="2762100"/>
            <a:ext cx="545703" cy="1624707"/>
          </a:xfrm>
          <a:prstGeom prst="rect">
            <a:avLst/>
          </a:prstGeom>
        </p:spPr>
      </p:pic>
      <p:cxnSp>
        <p:nvCxnSpPr>
          <p:cNvPr id="21" name="Straight Arrow Connector 20"/>
          <p:cNvCxnSpPr/>
          <p:nvPr/>
        </p:nvCxnSpPr>
        <p:spPr>
          <a:xfrm flipH="1" flipV="1">
            <a:off x="6426976" y="2621532"/>
            <a:ext cx="599539" cy="36353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84247" y="4434940"/>
            <a:ext cx="4254754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Projection is </a:t>
            </a:r>
            <a:r>
              <a:rPr lang="en-US" b="1" dirty="0">
                <a:solidFill>
                  <a:srgbClr val="FF0000"/>
                </a:solidFill>
              </a:rPr>
              <a:t>behind</a:t>
            </a:r>
            <a:r>
              <a:rPr lang="en-US" dirty="0"/>
              <a:t> the object.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9001" y="4409699"/>
            <a:ext cx="4254754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Projection is </a:t>
            </a:r>
            <a:r>
              <a:rPr lang="en-US" b="1" dirty="0">
                <a:solidFill>
                  <a:srgbClr val="FF0000"/>
                </a:solidFill>
              </a:rPr>
              <a:t>in front of</a:t>
            </a:r>
            <a:r>
              <a:rPr lang="en-US" dirty="0"/>
              <a:t> the object.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/>
          <p:cNvSpPr txBox="1"/>
          <p:nvPr/>
        </p:nvSpPr>
        <p:spPr>
          <a:xfrm>
            <a:off x="130719" y="95070"/>
            <a:ext cx="4224464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u="sng" dirty="0"/>
              <a:t>First-angle projection</a:t>
            </a:r>
            <a:r>
              <a:rPr lang="en-SG" sz="1400" u="sng" dirty="0"/>
              <a:t>:</a:t>
            </a:r>
          </a:p>
          <a:p>
            <a:endParaRPr lang="en-SG" sz="1400" u="sng" dirty="0"/>
          </a:p>
          <a:p>
            <a:r>
              <a:rPr lang="en-SG" sz="1400" dirty="0"/>
              <a:t>T = elevation / front</a:t>
            </a:r>
          </a:p>
          <a:p>
            <a:r>
              <a:rPr lang="en-SG" sz="1400" dirty="0"/>
              <a:t>S = end / side</a:t>
            </a:r>
          </a:p>
          <a:p>
            <a:r>
              <a:rPr lang="en-SG" sz="1400" dirty="0"/>
              <a:t>P = plan / top</a:t>
            </a:r>
          </a:p>
        </p:txBody>
      </p:sp>
      <p:cxnSp>
        <p:nvCxnSpPr>
          <p:cNvPr id="29" name="Straight Connector 28"/>
          <p:cNvCxnSpPr/>
          <p:nvPr/>
        </p:nvCxnSpPr>
        <p:spPr>
          <a:xfrm>
            <a:off x="3487910" y="2683211"/>
            <a:ext cx="45994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/>
          <p:cNvCxnSpPr/>
          <p:nvPr/>
        </p:nvCxnSpPr>
        <p:spPr>
          <a:xfrm flipV="1">
            <a:off x="6706211" y="1122840"/>
            <a:ext cx="0" cy="29153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683655" y="210293"/>
            <a:ext cx="514493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Unfold such that elevation view is adjacent to  / </a:t>
            </a:r>
            <a:r>
              <a:rPr lang="en-SG" sz="1400" dirty="0" err="1"/>
              <a:t>center</a:t>
            </a:r>
            <a:r>
              <a:rPr lang="en-SG" sz="1400" dirty="0"/>
              <a:t> of other views.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First-angle projections are </a:t>
            </a:r>
            <a:r>
              <a:rPr lang="en-SG" sz="1400" dirty="0">
                <a:highlight>
                  <a:srgbClr val="FFFF00"/>
                </a:highlight>
              </a:rPr>
              <a:t>behind</a:t>
            </a:r>
            <a:r>
              <a:rPr lang="en-SG" sz="1400" dirty="0"/>
              <a:t> the object.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83719" y="2403149"/>
            <a:ext cx="16281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dirty="0"/>
              <a:t>Vertical partition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02521" y="1759895"/>
            <a:ext cx="1178169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400" dirty="0"/>
              <a:t>Elevation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60587" y="3267520"/>
            <a:ext cx="610733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400" dirty="0"/>
              <a:t>Plan </a:t>
            </a:r>
          </a:p>
        </p:txBody>
      </p:sp>
      <p:cxnSp>
        <p:nvCxnSpPr>
          <p:cNvPr id="45" name="Straight Connector 44"/>
          <p:cNvCxnSpPr/>
          <p:nvPr/>
        </p:nvCxnSpPr>
        <p:spPr>
          <a:xfrm flipV="1">
            <a:off x="4834168" y="1199208"/>
            <a:ext cx="0" cy="283899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3831516" y="1759895"/>
            <a:ext cx="670455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r>
              <a:rPr lang="en-SG" sz="1400" dirty="0"/>
              <a:t>End 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81646" y="1759895"/>
            <a:ext cx="679273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r>
              <a:rPr lang="en-SG" sz="1400" dirty="0"/>
              <a:t>End 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41103" y="2386971"/>
            <a:ext cx="953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/>
              <a:t>Base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80900" y="2427592"/>
            <a:ext cx="953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/>
              <a:t>Lid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86165" y="2760346"/>
            <a:ext cx="16281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dirty="0"/>
              <a:t>Horizontal partition 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83655" y="4196113"/>
            <a:ext cx="51449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Elevation is always on the vertical partition of the box.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Plan is always on the horizontal partition of the box.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DC9ABA2-4D7C-965D-E722-8248DE777D55}"/>
              </a:ext>
            </a:extLst>
          </p:cNvPr>
          <p:cNvGrpSpPr/>
          <p:nvPr/>
        </p:nvGrpSpPr>
        <p:grpSpPr>
          <a:xfrm>
            <a:off x="315408" y="1303370"/>
            <a:ext cx="2979599" cy="3001908"/>
            <a:chOff x="315408" y="1303370"/>
            <a:chExt cx="2979599" cy="3001908"/>
          </a:xfrm>
        </p:grpSpPr>
        <p:sp>
          <p:nvSpPr>
            <p:cNvPr id="2" name="Parallelogram 1"/>
            <p:cNvSpPr/>
            <p:nvPr/>
          </p:nvSpPr>
          <p:spPr>
            <a:xfrm rot="16200000">
              <a:off x="1498475" y="1755625"/>
              <a:ext cx="2043968" cy="1139458"/>
            </a:xfrm>
            <a:prstGeom prst="parallelogram">
              <a:avLst>
                <a:gd name="adj" fmla="val 56363"/>
              </a:avLst>
            </a:prstGeom>
            <a:solidFill>
              <a:schemeClr val="tx1"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5" name="Parallelogram 14"/>
            <p:cNvSpPr/>
            <p:nvPr/>
          </p:nvSpPr>
          <p:spPr>
            <a:xfrm rot="16200000" flipV="1">
              <a:off x="63147" y="1683781"/>
              <a:ext cx="2267991" cy="1507169"/>
            </a:xfrm>
            <a:prstGeom prst="parallelogram">
              <a:avLst>
                <a:gd name="adj" fmla="val 57036"/>
              </a:avLst>
            </a:prstGeom>
            <a:solidFill>
              <a:srgbClr val="92D05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75A94704-D847-2D3E-84EC-400B36680F41}"/>
                </a:ext>
              </a:extLst>
            </p:cNvPr>
            <p:cNvGrpSpPr/>
            <p:nvPr/>
          </p:nvGrpSpPr>
          <p:grpSpPr>
            <a:xfrm>
              <a:off x="315408" y="1388574"/>
              <a:ext cx="2979599" cy="2916704"/>
              <a:chOff x="315408" y="1388574"/>
              <a:chExt cx="2979599" cy="2916704"/>
            </a:xfrm>
          </p:grpSpPr>
          <p:sp>
            <p:nvSpPr>
              <p:cNvPr id="5" name="Parallelogram 4"/>
              <p:cNvSpPr/>
              <p:nvPr/>
            </p:nvSpPr>
            <p:spPr>
              <a:xfrm rot="9000000" flipV="1">
                <a:off x="568035" y="2893440"/>
                <a:ext cx="2397677" cy="1140356"/>
              </a:xfrm>
              <a:prstGeom prst="parallelogram">
                <a:avLst>
                  <a:gd name="adj" fmla="val 58457"/>
                </a:avLst>
              </a:prstGeom>
              <a:solidFill>
                <a:srgbClr val="92D050">
                  <a:alpha val="5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  <p:sp>
            <p:nvSpPr>
              <p:cNvPr id="24" name="TextBox 23"/>
              <p:cNvSpPr txBox="1"/>
              <p:nvPr/>
            </p:nvSpPr>
            <p:spPr>
              <a:xfrm>
                <a:off x="2591140" y="3883891"/>
                <a:ext cx="29290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b="1">
                    <a:solidFill>
                      <a:srgbClr val="FF0000"/>
                    </a:solidFill>
                  </a:rPr>
                  <a:t>T</a:t>
                </a:r>
                <a:endParaRPr lang="en-GB" b="1">
                  <a:solidFill>
                    <a:srgbClr val="FF0000"/>
                  </a:solidFill>
                </a:endParaRPr>
              </a:p>
            </p:txBody>
          </p:sp>
          <p:cxnSp>
            <p:nvCxnSpPr>
              <p:cNvPr id="25" name="Straight Arrow Connector 24"/>
              <p:cNvCxnSpPr/>
              <p:nvPr/>
            </p:nvCxnSpPr>
            <p:spPr>
              <a:xfrm flipH="1" flipV="1">
                <a:off x="2205833" y="3540232"/>
                <a:ext cx="412121" cy="363546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TextBox 25"/>
              <p:cNvSpPr txBox="1"/>
              <p:nvPr/>
            </p:nvSpPr>
            <p:spPr>
              <a:xfrm>
                <a:off x="326101" y="3935946"/>
                <a:ext cx="52022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b="1">
                    <a:solidFill>
                      <a:srgbClr val="FF0000"/>
                    </a:solidFill>
                  </a:rPr>
                  <a:t>S1</a:t>
                </a:r>
                <a:endParaRPr lang="en-GB" b="1">
                  <a:solidFill>
                    <a:srgbClr val="FF0000"/>
                  </a:solidFill>
                </a:endParaRPr>
              </a:p>
            </p:txBody>
          </p:sp>
          <p:cxnSp>
            <p:nvCxnSpPr>
              <p:cNvPr id="27" name="Straight Arrow Connector 26"/>
              <p:cNvCxnSpPr/>
              <p:nvPr/>
            </p:nvCxnSpPr>
            <p:spPr>
              <a:xfrm>
                <a:off x="1618230" y="1715098"/>
                <a:ext cx="0" cy="546546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TextBox 27"/>
              <p:cNvSpPr txBox="1"/>
              <p:nvPr/>
            </p:nvSpPr>
            <p:spPr>
              <a:xfrm>
                <a:off x="1522717" y="1388574"/>
                <a:ext cx="29290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b="1">
                    <a:solidFill>
                      <a:srgbClr val="FF0000"/>
                    </a:solidFill>
                  </a:rPr>
                  <a:t>P</a:t>
                </a:r>
                <a:endParaRPr lang="en-GB" b="1">
                  <a:solidFill>
                    <a:srgbClr val="FF0000"/>
                  </a:solidFill>
                </a:endParaRPr>
              </a:p>
            </p:txBody>
          </p:sp>
          <p:sp>
            <p:nvSpPr>
              <p:cNvPr id="31" name="TextBox 30"/>
              <p:cNvSpPr txBox="1"/>
              <p:nvPr/>
            </p:nvSpPr>
            <p:spPr>
              <a:xfrm>
                <a:off x="2251601" y="2008966"/>
                <a:ext cx="95326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400"/>
                  <a:t>Base</a:t>
                </a:r>
              </a:p>
            </p:txBody>
          </p:sp>
          <p:sp>
            <p:nvSpPr>
              <p:cNvPr id="33" name="Arrow: Curved Right 60"/>
              <p:cNvSpPr/>
              <p:nvPr/>
            </p:nvSpPr>
            <p:spPr>
              <a:xfrm rot="16970471">
                <a:off x="1867471" y="1786741"/>
                <a:ext cx="155357" cy="345075"/>
              </a:xfrm>
              <a:prstGeom prst="curvedRightArrow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400">
                  <a:solidFill>
                    <a:schemeClr val="tx1"/>
                  </a:solidFill>
                </a:endParaRPr>
              </a:p>
            </p:txBody>
          </p:sp>
          <p:sp>
            <p:nvSpPr>
              <p:cNvPr id="34" name="Arrow: Curved Right 61"/>
              <p:cNvSpPr/>
              <p:nvPr/>
            </p:nvSpPr>
            <p:spPr>
              <a:xfrm rot="12042724" flipV="1">
                <a:off x="1327710" y="2912592"/>
                <a:ext cx="194679" cy="347097"/>
              </a:xfrm>
              <a:prstGeom prst="curvedRightArrow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40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TextBox 37"/>
              <p:cNvSpPr txBox="1"/>
              <p:nvPr/>
            </p:nvSpPr>
            <p:spPr>
              <a:xfrm>
                <a:off x="1682115" y="3059430"/>
                <a:ext cx="1139190" cy="5219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400"/>
                  <a:t>Horizontal partition </a:t>
                </a:r>
              </a:p>
            </p:txBody>
          </p:sp>
          <p:sp>
            <p:nvSpPr>
              <p:cNvPr id="39" name="TextBox 38"/>
              <p:cNvSpPr txBox="1"/>
              <p:nvPr/>
            </p:nvSpPr>
            <p:spPr>
              <a:xfrm>
                <a:off x="1157959" y="2236859"/>
                <a:ext cx="95326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400"/>
                  <a:t>Vertical partition </a:t>
                </a:r>
              </a:p>
            </p:txBody>
          </p:sp>
          <p:sp>
            <p:nvSpPr>
              <p:cNvPr id="40" name="Parallelogram 39"/>
              <p:cNvSpPr/>
              <p:nvPr/>
            </p:nvSpPr>
            <p:spPr>
              <a:xfrm rot="16200000">
                <a:off x="-16092" y="2617228"/>
                <a:ext cx="2043968" cy="1139458"/>
              </a:xfrm>
              <a:prstGeom prst="parallelogram">
                <a:avLst>
                  <a:gd name="adj" fmla="val 56363"/>
                </a:avLst>
              </a:prstGeom>
              <a:solidFill>
                <a:srgbClr val="92D050">
                  <a:alpha val="5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  <p:sp>
            <p:nvSpPr>
              <p:cNvPr id="41" name="TextBox 40"/>
              <p:cNvSpPr txBox="1"/>
              <p:nvPr/>
            </p:nvSpPr>
            <p:spPr>
              <a:xfrm>
                <a:off x="1024541" y="3482022"/>
                <a:ext cx="95326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400"/>
                  <a:t>Lid</a:t>
                </a:r>
              </a:p>
            </p:txBody>
          </p:sp>
          <p:cxnSp>
            <p:nvCxnSpPr>
              <p:cNvPr id="42" name="Straight Arrow Connector 41"/>
              <p:cNvCxnSpPr/>
              <p:nvPr/>
            </p:nvCxnSpPr>
            <p:spPr>
              <a:xfrm flipV="1">
                <a:off x="432351" y="3571361"/>
                <a:ext cx="520227" cy="380450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Arrow Connector 42"/>
              <p:cNvCxnSpPr/>
              <p:nvPr/>
            </p:nvCxnSpPr>
            <p:spPr>
              <a:xfrm flipH="1">
                <a:off x="2432594" y="2276662"/>
                <a:ext cx="407040" cy="342073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TextBox 43"/>
              <p:cNvSpPr txBox="1"/>
              <p:nvPr/>
            </p:nvSpPr>
            <p:spPr>
              <a:xfrm>
                <a:off x="2849431" y="2034655"/>
                <a:ext cx="44557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b="1">
                    <a:solidFill>
                      <a:srgbClr val="FF0000"/>
                    </a:solidFill>
                  </a:rPr>
                  <a:t>S2</a:t>
                </a:r>
                <a:endParaRPr lang="en-GB" b="1">
                  <a:solidFill>
                    <a:srgbClr val="FF0000"/>
                  </a:solidFill>
                </a:endParaRPr>
              </a:p>
            </p:txBody>
          </p:sp>
          <p:sp>
            <p:nvSpPr>
              <p:cNvPr id="52" name="Arrow: Curved Right 100"/>
              <p:cNvSpPr/>
              <p:nvPr/>
            </p:nvSpPr>
            <p:spPr>
              <a:xfrm rot="13634337" flipV="1">
                <a:off x="384214" y="2783169"/>
                <a:ext cx="155357" cy="292970"/>
              </a:xfrm>
              <a:prstGeom prst="curvedRightArrow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400">
                  <a:solidFill>
                    <a:schemeClr val="tx1"/>
                  </a:solidFill>
                </a:endParaRPr>
              </a:p>
            </p:txBody>
          </p:sp>
        </p:grp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547918" y="462779"/>
            <a:ext cx="1504077" cy="164931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5397" y="2047720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</a:t>
            </a:r>
            <a:endParaRPr lang="en-GB" sz="1600" b="1">
              <a:solidFill>
                <a:srgbClr val="FF0000"/>
              </a:solidFill>
            </a:endParaRPr>
          </a:p>
        </p:txBody>
      </p:sp>
      <p:cxnSp>
        <p:nvCxnSpPr>
          <p:cNvPr id="4" name="Straight Arrow Connector 3"/>
          <p:cNvCxnSpPr/>
          <p:nvPr/>
        </p:nvCxnSpPr>
        <p:spPr>
          <a:xfrm flipV="1">
            <a:off x="547918" y="1846634"/>
            <a:ext cx="285799" cy="26103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/>
          <p:cNvCxnSpPr/>
          <p:nvPr/>
        </p:nvCxnSpPr>
        <p:spPr>
          <a:xfrm flipH="1" flipV="1">
            <a:off x="1711569" y="1913201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998273" y="2022063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140694" y="4223785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8" name="Parallelogram 7"/>
          <p:cNvSpPr/>
          <p:nvPr/>
        </p:nvSpPr>
        <p:spPr>
          <a:xfrm rot="16200000">
            <a:off x="1173005" y="2613014"/>
            <a:ext cx="1803149" cy="983470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9" name="Parallelogram 8"/>
          <p:cNvSpPr/>
          <p:nvPr/>
        </p:nvSpPr>
        <p:spPr>
          <a:xfrm rot="9000000" flipV="1">
            <a:off x="398692" y="3591413"/>
            <a:ext cx="2069443" cy="992474"/>
          </a:xfrm>
          <a:prstGeom prst="parallelogram">
            <a:avLst>
              <a:gd name="adj" fmla="val 57614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0" name="Parallelogram 9"/>
          <p:cNvSpPr/>
          <p:nvPr/>
        </p:nvSpPr>
        <p:spPr>
          <a:xfrm rot="16200000" flipV="1">
            <a:off x="-45263" y="2544060"/>
            <a:ext cx="1973878" cy="1300842"/>
          </a:xfrm>
          <a:prstGeom prst="parallelogram">
            <a:avLst>
              <a:gd name="adj" fmla="val 57036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661088" y="2709561"/>
            <a:ext cx="1504077" cy="1649315"/>
          </a:xfrm>
          <a:prstGeom prst="rect">
            <a:avLst/>
          </a:prstGeom>
        </p:spPr>
      </p:pic>
      <p:sp>
        <p:nvSpPr>
          <p:cNvPr id="12" name="Parallelogram 11"/>
          <p:cNvSpPr/>
          <p:nvPr/>
        </p:nvSpPr>
        <p:spPr>
          <a:xfrm rot="16200000">
            <a:off x="-112845" y="3355132"/>
            <a:ext cx="1778906" cy="983470"/>
          </a:xfrm>
          <a:prstGeom prst="parallelogram">
            <a:avLst>
              <a:gd name="adj" fmla="val 56363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" name="Straight Arrow Connector 12"/>
          <p:cNvCxnSpPr/>
          <p:nvPr/>
        </p:nvCxnSpPr>
        <p:spPr>
          <a:xfrm flipH="1" flipV="1">
            <a:off x="1848777" y="4164413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 flipV="1">
            <a:off x="661088" y="3908540"/>
            <a:ext cx="285799" cy="26103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92307" y="4283101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718743" y="36502"/>
            <a:ext cx="6614727" cy="8937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SG" sz="1400" u="sng" dirty="0"/>
              <a:t>Comment:</a:t>
            </a:r>
          </a:p>
          <a:p>
            <a:pPr marL="285750" indent="-285750">
              <a:lnSpc>
                <a:spcPct val="200000"/>
              </a:lnSpc>
              <a:buFont typeface="Arial" panose="020B0604020202090204" pitchFamily="34" charset="0"/>
              <a:buChar char="•"/>
            </a:pPr>
            <a:r>
              <a:rPr lang="en-SG" sz="1400" dirty="0"/>
              <a:t>Notice that P may not be given, because plan view is always from above.</a:t>
            </a:r>
            <a:endParaRPr lang="en-GB" sz="1400" dirty="0"/>
          </a:p>
        </p:txBody>
      </p:sp>
      <p:cxnSp>
        <p:nvCxnSpPr>
          <p:cNvPr id="17" name="Straight Connector 16"/>
          <p:cNvCxnSpPr/>
          <p:nvPr/>
        </p:nvCxnSpPr>
        <p:spPr>
          <a:xfrm>
            <a:off x="3351111" y="3172439"/>
            <a:ext cx="490749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 flipV="1">
            <a:off x="6784941" y="1507571"/>
            <a:ext cx="0" cy="311060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209701" y="2873622"/>
            <a:ext cx="13459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20" name="Straight Connector 19"/>
          <p:cNvCxnSpPr/>
          <p:nvPr/>
        </p:nvCxnSpPr>
        <p:spPr>
          <a:xfrm flipV="1">
            <a:off x="4787527" y="1589053"/>
            <a:ext cx="0" cy="31308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241498" y="2873622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6851" y="2891313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41968" y="3254740"/>
            <a:ext cx="15608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grpSp>
        <p:nvGrpSpPr>
          <p:cNvPr id="24" name="Group 23"/>
          <p:cNvGrpSpPr/>
          <p:nvPr/>
        </p:nvGrpSpPr>
        <p:grpSpPr>
          <a:xfrm>
            <a:off x="7132866" y="1706322"/>
            <a:ext cx="1048377" cy="989875"/>
            <a:chOff x="9637776" y="1965960"/>
            <a:chExt cx="1469811" cy="1387792"/>
          </a:xfrm>
        </p:grpSpPr>
        <p:cxnSp>
          <p:nvCxnSpPr>
            <p:cNvPr id="25" name="Straight Connector 24"/>
            <p:cNvCxnSpPr/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/>
            <p:cNvCxnSpPr/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/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/>
            <p:cNvCxnSpPr/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/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 rot="5400000">
            <a:off x="5379380" y="3647157"/>
            <a:ext cx="1007618" cy="941377"/>
            <a:chOff x="9690394" y="4430333"/>
            <a:chExt cx="1412668" cy="1319799"/>
          </a:xfrm>
        </p:grpSpPr>
        <p:sp>
          <p:nvSpPr>
            <p:cNvPr id="31" name="Rectangle 30"/>
            <p:cNvSpPr/>
            <p:nvPr/>
          </p:nvSpPr>
          <p:spPr>
            <a:xfrm>
              <a:off x="9690394" y="4430333"/>
              <a:ext cx="1412665" cy="13197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10638652" y="4430337"/>
              <a:ext cx="464410" cy="131979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grpSp>
        <p:nvGrpSpPr>
          <p:cNvPr id="33" name="Group 32"/>
          <p:cNvGrpSpPr/>
          <p:nvPr/>
        </p:nvGrpSpPr>
        <p:grpSpPr>
          <a:xfrm>
            <a:off x="5411484" y="1676315"/>
            <a:ext cx="942396" cy="975606"/>
            <a:chOff x="6943810" y="1965960"/>
            <a:chExt cx="1321228" cy="1367788"/>
          </a:xfrm>
        </p:grpSpPr>
        <p:sp>
          <p:nvSpPr>
            <p:cNvPr id="34" name="Rectangle 33"/>
            <p:cNvSpPr/>
            <p:nvPr/>
          </p:nvSpPr>
          <p:spPr>
            <a:xfrm>
              <a:off x="6943810" y="1965960"/>
              <a:ext cx="1321227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6944524" y="3072531"/>
              <a:ext cx="1320514" cy="26121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sp>
        <p:nvSpPr>
          <p:cNvPr id="36" name="TextBox 35"/>
          <p:cNvSpPr txBox="1"/>
          <p:nvPr/>
        </p:nvSpPr>
        <p:spPr>
          <a:xfrm>
            <a:off x="3475350" y="2246215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 dirty="0"/>
              <a:t>Not required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0719" y="95070"/>
            <a:ext cx="4224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u="sng" dirty="0"/>
              <a:t>First-angle projection</a:t>
            </a:r>
            <a:r>
              <a:rPr lang="en-SG" sz="1400" u="sng" dirty="0"/>
              <a:t>: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 dirty="0"/>
              <a:t>Variation 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35397" y="2047720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</a:t>
            </a:r>
            <a:endParaRPr lang="en-GB" sz="1600" b="1">
              <a:solidFill>
                <a:srgbClr val="FF0000"/>
              </a:solidFill>
            </a:endParaRPr>
          </a:p>
        </p:txBody>
      </p:sp>
      <p:cxnSp>
        <p:nvCxnSpPr>
          <p:cNvPr id="4" name="Straight Arrow Connector 3"/>
          <p:cNvCxnSpPr/>
          <p:nvPr/>
        </p:nvCxnSpPr>
        <p:spPr>
          <a:xfrm flipV="1">
            <a:off x="547918" y="1846634"/>
            <a:ext cx="285799" cy="26103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/>
          <p:cNvCxnSpPr/>
          <p:nvPr/>
        </p:nvCxnSpPr>
        <p:spPr>
          <a:xfrm flipH="1" flipV="1">
            <a:off x="1711569" y="1913201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998273" y="2022063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140694" y="4223785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8" name="Parallelogram 7"/>
          <p:cNvSpPr/>
          <p:nvPr/>
        </p:nvSpPr>
        <p:spPr>
          <a:xfrm rot="16200000">
            <a:off x="1173005" y="2613014"/>
            <a:ext cx="1803149" cy="983470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9" name="Parallelogram 8"/>
          <p:cNvSpPr/>
          <p:nvPr/>
        </p:nvSpPr>
        <p:spPr>
          <a:xfrm rot="9000000" flipV="1">
            <a:off x="398692" y="3591413"/>
            <a:ext cx="2069443" cy="992474"/>
          </a:xfrm>
          <a:prstGeom prst="parallelogram">
            <a:avLst>
              <a:gd name="adj" fmla="val 57614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0" name="Parallelogram 9"/>
          <p:cNvSpPr/>
          <p:nvPr/>
        </p:nvSpPr>
        <p:spPr>
          <a:xfrm rot="16200000" flipV="1">
            <a:off x="-45263" y="2544060"/>
            <a:ext cx="1973878" cy="1300842"/>
          </a:xfrm>
          <a:prstGeom prst="parallelogram">
            <a:avLst>
              <a:gd name="adj" fmla="val 57036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" name="Straight Arrow Connector 12"/>
          <p:cNvCxnSpPr/>
          <p:nvPr/>
        </p:nvCxnSpPr>
        <p:spPr>
          <a:xfrm flipH="1" flipV="1">
            <a:off x="1848777" y="4164413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 flipV="1">
            <a:off x="661088" y="3908540"/>
            <a:ext cx="285799" cy="26103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92307" y="4283101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</a:t>
            </a:r>
            <a:endParaRPr lang="en-GB" sz="1600" b="1">
              <a:solidFill>
                <a:srgbClr val="FF0000"/>
              </a:solidFill>
            </a:endParaRPr>
          </a:p>
        </p:txBody>
      </p:sp>
      <p:cxnSp>
        <p:nvCxnSpPr>
          <p:cNvPr id="17" name="Straight Connector 16"/>
          <p:cNvCxnSpPr/>
          <p:nvPr/>
        </p:nvCxnSpPr>
        <p:spPr>
          <a:xfrm>
            <a:off x="3351111" y="3172439"/>
            <a:ext cx="490749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 flipV="1">
            <a:off x="6784941" y="1507571"/>
            <a:ext cx="0" cy="311060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209701" y="2873622"/>
            <a:ext cx="13459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20" name="Straight Connector 19"/>
          <p:cNvCxnSpPr/>
          <p:nvPr/>
        </p:nvCxnSpPr>
        <p:spPr>
          <a:xfrm flipV="1">
            <a:off x="4787527" y="1589053"/>
            <a:ext cx="0" cy="31308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241498" y="2873622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6851" y="2891313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41968" y="3254740"/>
            <a:ext cx="15608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0719" y="95070"/>
            <a:ext cx="4224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u="sng" dirty="0"/>
              <a:t>First-angle projection</a:t>
            </a:r>
            <a:r>
              <a:rPr lang="en-SG" sz="1400" u="sng" dirty="0"/>
              <a:t>:</a:t>
            </a:r>
          </a:p>
        </p:txBody>
      </p:sp>
      <p:sp>
        <p:nvSpPr>
          <p:cNvPr id="37" name="TextBox 57"/>
          <p:cNvSpPr txBox="1"/>
          <p:nvPr/>
        </p:nvSpPr>
        <p:spPr>
          <a:xfrm>
            <a:off x="2347591" y="425776"/>
            <a:ext cx="26045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The object is rotated.</a:t>
            </a:r>
            <a:endParaRPr lang="en-GB" sz="1400" dirty="0"/>
          </a:p>
        </p:txBody>
      </p:sp>
      <p:grpSp>
        <p:nvGrpSpPr>
          <p:cNvPr id="38" name="Group 37"/>
          <p:cNvGrpSpPr/>
          <p:nvPr/>
        </p:nvGrpSpPr>
        <p:grpSpPr>
          <a:xfrm rot="10800000">
            <a:off x="5274568" y="3616561"/>
            <a:ext cx="1060563" cy="975652"/>
            <a:chOff x="9616234" y="4382344"/>
            <a:chExt cx="1486826" cy="1367788"/>
          </a:xfrm>
        </p:grpSpPr>
        <p:sp>
          <p:nvSpPr>
            <p:cNvPr id="40" name="Rectangle 39"/>
            <p:cNvSpPr/>
            <p:nvPr/>
          </p:nvSpPr>
          <p:spPr>
            <a:xfrm>
              <a:off x="9616234" y="4382344"/>
              <a:ext cx="1486826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10430211" y="4382344"/>
              <a:ext cx="672849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</p:grpSp>
      <p:grpSp>
        <p:nvGrpSpPr>
          <p:cNvPr id="42" name="Group 41"/>
          <p:cNvGrpSpPr/>
          <p:nvPr/>
        </p:nvGrpSpPr>
        <p:grpSpPr>
          <a:xfrm>
            <a:off x="7090910" y="1635485"/>
            <a:ext cx="942441" cy="975652"/>
            <a:chOff x="6943810" y="1965960"/>
            <a:chExt cx="1321228" cy="1367788"/>
          </a:xfrm>
        </p:grpSpPr>
        <p:sp>
          <p:nvSpPr>
            <p:cNvPr id="43" name="Rectangle 42"/>
            <p:cNvSpPr/>
            <p:nvPr/>
          </p:nvSpPr>
          <p:spPr>
            <a:xfrm>
              <a:off x="6943810" y="1965960"/>
              <a:ext cx="1321227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6944524" y="3072531"/>
              <a:ext cx="1320514" cy="26121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</p:grpSp>
      <p:sp>
        <p:nvSpPr>
          <p:cNvPr id="45" name="TextBox 99"/>
          <p:cNvSpPr txBox="1"/>
          <p:nvPr/>
        </p:nvSpPr>
        <p:spPr>
          <a:xfrm>
            <a:off x="3563470" y="1846312"/>
            <a:ext cx="10171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200"/>
              <a:t>Not required</a:t>
            </a:r>
          </a:p>
        </p:txBody>
      </p:sp>
      <p:pic>
        <p:nvPicPr>
          <p:cNvPr id="46" name="Picture 45"/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47945" y="407180"/>
            <a:ext cx="1505026" cy="1649393"/>
          </a:xfrm>
          <a:prstGeom prst="rect">
            <a:avLst/>
          </a:prstGeom>
        </p:spPr>
      </p:pic>
      <p:pic>
        <p:nvPicPr>
          <p:cNvPr id="47" name="Picture 46"/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70288" y="2609062"/>
            <a:ext cx="1505026" cy="1649393"/>
          </a:xfrm>
          <a:prstGeom prst="rect">
            <a:avLst/>
          </a:prstGeom>
        </p:spPr>
      </p:pic>
      <p:sp>
        <p:nvSpPr>
          <p:cNvPr id="48" name="TextBox 4"/>
          <p:cNvSpPr txBox="1"/>
          <p:nvPr/>
        </p:nvSpPr>
        <p:spPr>
          <a:xfrm>
            <a:off x="4952144" y="362816"/>
            <a:ext cx="377995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400" u="sng"/>
              <a:t>Comment: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/>
              <a:t>The layout stays the same because the object is simply rotated.</a:t>
            </a:r>
            <a:endParaRPr lang="en-GB" sz="1400"/>
          </a:p>
        </p:txBody>
      </p:sp>
      <p:grpSp>
        <p:nvGrpSpPr>
          <p:cNvPr id="49" name="Group 48"/>
          <p:cNvGrpSpPr/>
          <p:nvPr/>
        </p:nvGrpSpPr>
        <p:grpSpPr>
          <a:xfrm flipH="1">
            <a:off x="5274569" y="1618811"/>
            <a:ext cx="1060577" cy="989921"/>
            <a:chOff x="9637776" y="1965960"/>
            <a:chExt cx="1469811" cy="1387792"/>
          </a:xfrm>
        </p:grpSpPr>
        <p:cxnSp>
          <p:nvCxnSpPr>
            <p:cNvPr id="50" name="Straight Connector 49"/>
            <p:cNvCxnSpPr/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/>
            <p:cNvCxnSpPr/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/>
            <p:cNvCxnSpPr/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/>
            <p:cNvCxnSpPr/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/>
            <p:cNvCxnSpPr/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Parallelogram 11"/>
          <p:cNvSpPr/>
          <p:nvPr/>
        </p:nvSpPr>
        <p:spPr>
          <a:xfrm rot="16200000">
            <a:off x="-112845" y="3355132"/>
            <a:ext cx="1778906" cy="983470"/>
          </a:xfrm>
          <a:prstGeom prst="parallelogram">
            <a:avLst>
              <a:gd name="adj" fmla="val 56363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55" name="TextBox 54"/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 dirty="0"/>
              <a:t>Variation 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arallelogram 42"/>
          <p:cNvSpPr/>
          <p:nvPr/>
        </p:nvSpPr>
        <p:spPr>
          <a:xfrm rot="9000000" flipV="1">
            <a:off x="398692" y="3591413"/>
            <a:ext cx="2069443" cy="992474"/>
          </a:xfrm>
          <a:prstGeom prst="parallelogram">
            <a:avLst>
              <a:gd name="adj" fmla="val 57614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" name="TextBox 1"/>
          <p:cNvSpPr txBox="1"/>
          <p:nvPr/>
        </p:nvSpPr>
        <p:spPr>
          <a:xfrm>
            <a:off x="2389439" y="1019524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dirty="0">
                <a:solidFill>
                  <a:srgbClr val="FF0000"/>
                </a:solidFill>
              </a:rPr>
              <a:t>S</a:t>
            </a:r>
            <a:endParaRPr lang="en-GB" sz="1600" b="1" dirty="0">
              <a:solidFill>
                <a:srgbClr val="FF0000"/>
              </a:solidFill>
            </a:endParaRPr>
          </a:p>
        </p:txBody>
      </p:sp>
      <p:cxnSp>
        <p:nvCxnSpPr>
          <p:cNvPr id="3" name="Straight Arrow Connector 2"/>
          <p:cNvCxnSpPr/>
          <p:nvPr/>
        </p:nvCxnSpPr>
        <p:spPr>
          <a:xfrm flipH="1">
            <a:off x="2086690" y="969894"/>
            <a:ext cx="312521" cy="25295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/>
          <p:cNvCxnSpPr/>
          <p:nvPr/>
        </p:nvCxnSpPr>
        <p:spPr>
          <a:xfrm flipH="1" flipV="1">
            <a:off x="1711569" y="1913201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998273" y="2022063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140694" y="4223785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7" name="Parallelogram 6"/>
          <p:cNvSpPr/>
          <p:nvPr/>
        </p:nvSpPr>
        <p:spPr>
          <a:xfrm rot="16200000">
            <a:off x="1173005" y="2613014"/>
            <a:ext cx="1803149" cy="983470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8" name="Parallelogram 7"/>
          <p:cNvSpPr/>
          <p:nvPr/>
        </p:nvSpPr>
        <p:spPr>
          <a:xfrm rot="16200000" flipV="1">
            <a:off x="-45263" y="2544060"/>
            <a:ext cx="1973878" cy="1300842"/>
          </a:xfrm>
          <a:prstGeom prst="parallelogram">
            <a:avLst>
              <a:gd name="adj" fmla="val 57036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" name="Straight Arrow Connector 8"/>
          <p:cNvCxnSpPr/>
          <p:nvPr/>
        </p:nvCxnSpPr>
        <p:spPr>
          <a:xfrm flipH="1" flipV="1">
            <a:off x="1848777" y="4164413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>
            <a:off x="3351111" y="3172439"/>
            <a:ext cx="490749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>
          <a:xfrm flipV="1">
            <a:off x="6784941" y="1507571"/>
            <a:ext cx="0" cy="311060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209701" y="2873622"/>
            <a:ext cx="13459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15" name="Straight Connector 14"/>
          <p:cNvCxnSpPr/>
          <p:nvPr/>
        </p:nvCxnSpPr>
        <p:spPr>
          <a:xfrm flipV="1">
            <a:off x="4787527" y="1589053"/>
            <a:ext cx="0" cy="31308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241498" y="2873622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6851" y="2891313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41968" y="3254740"/>
            <a:ext cx="15608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0719" y="95070"/>
            <a:ext cx="4224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u="sng" dirty="0"/>
              <a:t>First-angle projection</a:t>
            </a:r>
            <a:r>
              <a:rPr lang="en-SG" sz="1400" u="sng" dirty="0"/>
              <a:t>:</a:t>
            </a:r>
          </a:p>
        </p:txBody>
      </p:sp>
      <p:grpSp>
        <p:nvGrpSpPr>
          <p:cNvPr id="21" name="Group 20"/>
          <p:cNvGrpSpPr/>
          <p:nvPr/>
        </p:nvGrpSpPr>
        <p:grpSpPr>
          <a:xfrm rot="10800000">
            <a:off x="5274568" y="3616561"/>
            <a:ext cx="1060563" cy="975652"/>
            <a:chOff x="9616234" y="4382344"/>
            <a:chExt cx="1486826" cy="1367788"/>
          </a:xfrm>
        </p:grpSpPr>
        <p:sp>
          <p:nvSpPr>
            <p:cNvPr id="22" name="Rectangle 21"/>
            <p:cNvSpPr/>
            <p:nvPr/>
          </p:nvSpPr>
          <p:spPr>
            <a:xfrm>
              <a:off x="9616234" y="4382344"/>
              <a:ext cx="1486826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10430211" y="4382344"/>
              <a:ext cx="672849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</p:grpSp>
      <p:grpSp>
        <p:nvGrpSpPr>
          <p:cNvPr id="24" name="Group 23"/>
          <p:cNvGrpSpPr/>
          <p:nvPr/>
        </p:nvGrpSpPr>
        <p:grpSpPr>
          <a:xfrm>
            <a:off x="3533304" y="1635485"/>
            <a:ext cx="942441" cy="975652"/>
            <a:chOff x="6943810" y="1965960"/>
            <a:chExt cx="1321228" cy="1367788"/>
          </a:xfrm>
        </p:grpSpPr>
        <p:sp>
          <p:nvSpPr>
            <p:cNvPr id="25" name="Rectangle 24"/>
            <p:cNvSpPr/>
            <p:nvPr/>
          </p:nvSpPr>
          <p:spPr>
            <a:xfrm>
              <a:off x="6943810" y="1965960"/>
              <a:ext cx="1321227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944524" y="3072531"/>
              <a:ext cx="1320514" cy="261217"/>
            </a:xfrm>
            <a:prstGeom prst="rect">
              <a:avLst/>
            </a:prstGeom>
            <a:noFill/>
            <a:ln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</p:grpSp>
      <p:sp>
        <p:nvSpPr>
          <p:cNvPr id="27" name="TextBox 99"/>
          <p:cNvSpPr txBox="1"/>
          <p:nvPr/>
        </p:nvSpPr>
        <p:spPr>
          <a:xfrm>
            <a:off x="7077621" y="1957705"/>
            <a:ext cx="10171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200" dirty="0"/>
              <a:t>Not required</a:t>
            </a:r>
          </a:p>
        </p:txBody>
      </p:sp>
      <p:pic>
        <p:nvPicPr>
          <p:cNvPr id="28" name="Picture 27"/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47945" y="407180"/>
            <a:ext cx="1505026" cy="1649393"/>
          </a:xfrm>
          <a:prstGeom prst="rect">
            <a:avLst/>
          </a:prstGeom>
        </p:spPr>
      </p:pic>
      <p:pic>
        <p:nvPicPr>
          <p:cNvPr id="29" name="Picture 28"/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70288" y="2574392"/>
            <a:ext cx="1505026" cy="1649393"/>
          </a:xfrm>
          <a:prstGeom prst="rect">
            <a:avLst/>
          </a:prstGeom>
        </p:spPr>
      </p:pic>
      <p:grpSp>
        <p:nvGrpSpPr>
          <p:cNvPr id="31" name="Group 30"/>
          <p:cNvGrpSpPr/>
          <p:nvPr/>
        </p:nvGrpSpPr>
        <p:grpSpPr>
          <a:xfrm flipH="1">
            <a:off x="5274569" y="1618811"/>
            <a:ext cx="1060577" cy="989921"/>
            <a:chOff x="9637776" y="1965960"/>
            <a:chExt cx="1469811" cy="1387792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/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/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/>
            <p:cNvCxnSpPr/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Parallelogram 36"/>
          <p:cNvSpPr/>
          <p:nvPr/>
        </p:nvSpPr>
        <p:spPr>
          <a:xfrm rot="16200000">
            <a:off x="-112845" y="3355132"/>
            <a:ext cx="1778906" cy="983470"/>
          </a:xfrm>
          <a:prstGeom prst="parallelogram">
            <a:avLst>
              <a:gd name="adj" fmla="val 56363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9" name="TextBox 38"/>
          <p:cNvSpPr txBox="1"/>
          <p:nvPr/>
        </p:nvSpPr>
        <p:spPr>
          <a:xfrm>
            <a:off x="2510860" y="3031804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dirty="0">
                <a:solidFill>
                  <a:srgbClr val="FF0000"/>
                </a:solidFill>
              </a:rPr>
              <a:t>S</a:t>
            </a:r>
            <a:endParaRPr lang="en-GB" sz="1600" b="1" dirty="0">
              <a:solidFill>
                <a:srgbClr val="FF0000"/>
              </a:solidFill>
            </a:endParaRPr>
          </a:p>
        </p:txBody>
      </p:sp>
      <p:cxnSp>
        <p:nvCxnSpPr>
          <p:cNvPr id="40" name="Straight Arrow Connector 39"/>
          <p:cNvCxnSpPr/>
          <p:nvPr/>
        </p:nvCxnSpPr>
        <p:spPr>
          <a:xfrm flipH="1">
            <a:off x="2208111" y="2982174"/>
            <a:ext cx="312521" cy="25295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2529493" y="118731"/>
            <a:ext cx="233446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The other end view is requested.</a:t>
            </a:r>
            <a:endParaRPr lang="en-GB" sz="1400" dirty="0"/>
          </a:p>
        </p:txBody>
      </p:sp>
      <p:sp>
        <p:nvSpPr>
          <p:cNvPr id="42" name="TextBox 41"/>
          <p:cNvSpPr txBox="1"/>
          <p:nvPr/>
        </p:nvSpPr>
        <p:spPr>
          <a:xfrm>
            <a:off x="5141968" y="176477"/>
            <a:ext cx="387130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Take note that the layout is different now. Because first-angle projections are behind the object.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Take note of the hidden line.</a:t>
            </a:r>
            <a:endParaRPr lang="en-GB" sz="1400" dirty="0"/>
          </a:p>
        </p:txBody>
      </p:sp>
      <p:sp>
        <p:nvSpPr>
          <p:cNvPr id="51" name="TextBox 50"/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 dirty="0"/>
              <a:t>Variation 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Picture 61"/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17586" y="432864"/>
            <a:ext cx="1505026" cy="1649393"/>
          </a:xfrm>
          <a:prstGeom prst="rect">
            <a:avLst/>
          </a:prstGeom>
        </p:spPr>
      </p:pic>
      <p:cxnSp>
        <p:nvCxnSpPr>
          <p:cNvPr id="12" name="Straight Connector 11"/>
          <p:cNvCxnSpPr/>
          <p:nvPr/>
        </p:nvCxnSpPr>
        <p:spPr>
          <a:xfrm>
            <a:off x="3351111" y="3172439"/>
            <a:ext cx="490749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>
          <a:xfrm flipV="1">
            <a:off x="6784941" y="1507571"/>
            <a:ext cx="0" cy="311060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209701" y="2873622"/>
            <a:ext cx="13459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15" name="Straight Connector 14"/>
          <p:cNvCxnSpPr/>
          <p:nvPr/>
        </p:nvCxnSpPr>
        <p:spPr>
          <a:xfrm flipV="1">
            <a:off x="4787527" y="1589053"/>
            <a:ext cx="0" cy="31308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241498" y="2873622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6851" y="2891313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41968" y="3254740"/>
            <a:ext cx="15608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0719" y="95070"/>
            <a:ext cx="4224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u="sng" dirty="0"/>
              <a:t>First-angle projection</a:t>
            </a:r>
            <a:r>
              <a:rPr lang="en-SG" sz="1400" u="sng" dirty="0"/>
              <a:t>:</a:t>
            </a:r>
          </a:p>
        </p:txBody>
      </p:sp>
      <p:sp>
        <p:nvSpPr>
          <p:cNvPr id="27" name="TextBox 99"/>
          <p:cNvSpPr txBox="1"/>
          <p:nvPr/>
        </p:nvSpPr>
        <p:spPr>
          <a:xfrm>
            <a:off x="3589047" y="1968727"/>
            <a:ext cx="10171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200"/>
              <a:t>Not required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29493" y="118731"/>
            <a:ext cx="233446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The other end view is requested.</a:t>
            </a:r>
            <a:endParaRPr lang="en-GB" sz="1400" dirty="0"/>
          </a:p>
        </p:txBody>
      </p:sp>
      <p:sp>
        <p:nvSpPr>
          <p:cNvPr id="42" name="TextBox 41"/>
          <p:cNvSpPr txBox="1"/>
          <p:nvPr/>
        </p:nvSpPr>
        <p:spPr>
          <a:xfrm>
            <a:off x="4863958" y="160056"/>
            <a:ext cx="387130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Take note that the layout is different now. Because first-angle projections are behind the object.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Take note of the hidden line.</a:t>
            </a:r>
            <a:endParaRPr lang="en-GB" sz="1400" dirty="0"/>
          </a:p>
        </p:txBody>
      </p:sp>
      <p:sp>
        <p:nvSpPr>
          <p:cNvPr id="49" name="TextBox 48"/>
          <p:cNvSpPr txBox="1"/>
          <p:nvPr/>
        </p:nvSpPr>
        <p:spPr>
          <a:xfrm>
            <a:off x="2140694" y="4223785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50" name="Parallelogram 49"/>
          <p:cNvSpPr/>
          <p:nvPr/>
        </p:nvSpPr>
        <p:spPr>
          <a:xfrm rot="16200000">
            <a:off x="1173005" y="2613014"/>
            <a:ext cx="1803149" cy="983470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51" name="Parallelogram 50"/>
          <p:cNvSpPr/>
          <p:nvPr/>
        </p:nvSpPr>
        <p:spPr>
          <a:xfrm rot="9000000" flipV="1">
            <a:off x="398692" y="3591413"/>
            <a:ext cx="2069443" cy="992474"/>
          </a:xfrm>
          <a:prstGeom prst="parallelogram">
            <a:avLst>
              <a:gd name="adj" fmla="val 57614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52" name="Parallelogram 51"/>
          <p:cNvSpPr/>
          <p:nvPr/>
        </p:nvSpPr>
        <p:spPr>
          <a:xfrm rot="16200000" flipV="1">
            <a:off x="-45263" y="2544060"/>
            <a:ext cx="1973878" cy="1300842"/>
          </a:xfrm>
          <a:prstGeom prst="parallelogram">
            <a:avLst>
              <a:gd name="adj" fmla="val 57036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pic>
        <p:nvPicPr>
          <p:cNvPr id="53" name="Picture 52"/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661088" y="2709561"/>
            <a:ext cx="1504077" cy="1649315"/>
          </a:xfrm>
          <a:prstGeom prst="rect">
            <a:avLst/>
          </a:prstGeom>
        </p:spPr>
      </p:pic>
      <p:sp>
        <p:nvSpPr>
          <p:cNvPr id="54" name="Parallelogram 53"/>
          <p:cNvSpPr/>
          <p:nvPr/>
        </p:nvSpPr>
        <p:spPr>
          <a:xfrm rot="16200000">
            <a:off x="-112845" y="3355132"/>
            <a:ext cx="1778906" cy="983470"/>
          </a:xfrm>
          <a:prstGeom prst="parallelogram">
            <a:avLst>
              <a:gd name="adj" fmla="val 56363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55" name="Straight Arrow Connector 54"/>
          <p:cNvCxnSpPr/>
          <p:nvPr/>
        </p:nvCxnSpPr>
        <p:spPr>
          <a:xfrm flipH="1" flipV="1">
            <a:off x="1848777" y="4164413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/>
          <p:nvPr/>
        </p:nvCxnSpPr>
        <p:spPr>
          <a:xfrm flipV="1">
            <a:off x="608626" y="4006324"/>
            <a:ext cx="285799" cy="26103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192307" y="4283101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58" name="TextBox 2"/>
          <p:cNvSpPr txBox="1"/>
          <p:nvPr/>
        </p:nvSpPr>
        <p:spPr>
          <a:xfrm>
            <a:off x="183316" y="765373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600" b="1" dirty="0">
                <a:solidFill>
                  <a:srgbClr val="FF0000"/>
                </a:solidFill>
              </a:rPr>
              <a:t>S</a:t>
            </a:r>
            <a:endParaRPr lang="en-GB" sz="1600" b="1" dirty="0">
              <a:solidFill>
                <a:srgbClr val="FF0000"/>
              </a:solidFill>
            </a:endParaRPr>
          </a:p>
        </p:txBody>
      </p:sp>
      <p:cxnSp>
        <p:nvCxnSpPr>
          <p:cNvPr id="59" name="Straight Arrow Connector 58"/>
          <p:cNvCxnSpPr/>
          <p:nvPr/>
        </p:nvCxnSpPr>
        <p:spPr>
          <a:xfrm flipV="1">
            <a:off x="560112" y="1849633"/>
            <a:ext cx="285799" cy="26103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/>
          <p:cNvCxnSpPr/>
          <p:nvPr/>
        </p:nvCxnSpPr>
        <p:spPr>
          <a:xfrm>
            <a:off x="533471" y="993515"/>
            <a:ext cx="285799" cy="26150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5"/>
          <p:cNvSpPr txBox="1"/>
          <p:nvPr/>
        </p:nvSpPr>
        <p:spPr>
          <a:xfrm>
            <a:off x="174237" y="1937949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600" b="1" dirty="0">
                <a:solidFill>
                  <a:srgbClr val="FF0000"/>
                </a:solidFill>
              </a:rPr>
              <a:t>T</a:t>
            </a:r>
            <a:endParaRPr lang="en-GB" sz="1600" b="1" dirty="0">
              <a:solidFill>
                <a:srgbClr val="FF0000"/>
              </a:solidFill>
            </a:endParaRPr>
          </a:p>
        </p:txBody>
      </p:sp>
      <p:grpSp>
        <p:nvGrpSpPr>
          <p:cNvPr id="86" name="Group 85"/>
          <p:cNvGrpSpPr/>
          <p:nvPr/>
        </p:nvGrpSpPr>
        <p:grpSpPr>
          <a:xfrm>
            <a:off x="7132866" y="1706322"/>
            <a:ext cx="1048377" cy="989875"/>
            <a:chOff x="9637776" y="1965960"/>
            <a:chExt cx="1469811" cy="1387792"/>
          </a:xfrm>
        </p:grpSpPr>
        <p:cxnSp>
          <p:nvCxnSpPr>
            <p:cNvPr id="87" name="Straight Connector 86"/>
            <p:cNvCxnSpPr/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/>
            <p:cNvCxnSpPr/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/>
            <p:cNvCxnSpPr/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/>
            <p:cNvCxnSpPr/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/>
            <p:cNvCxnSpPr/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2" name="Group 91"/>
          <p:cNvGrpSpPr/>
          <p:nvPr/>
        </p:nvGrpSpPr>
        <p:grpSpPr>
          <a:xfrm rot="5400000">
            <a:off x="5379380" y="3647157"/>
            <a:ext cx="1007618" cy="941377"/>
            <a:chOff x="9690394" y="4430333"/>
            <a:chExt cx="1412668" cy="1319799"/>
          </a:xfrm>
        </p:grpSpPr>
        <p:sp>
          <p:nvSpPr>
            <p:cNvPr id="93" name="Rectangle 92"/>
            <p:cNvSpPr/>
            <p:nvPr/>
          </p:nvSpPr>
          <p:spPr>
            <a:xfrm>
              <a:off x="9690394" y="4430333"/>
              <a:ext cx="1412665" cy="13197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94" name="Rectangle 93"/>
            <p:cNvSpPr/>
            <p:nvPr/>
          </p:nvSpPr>
          <p:spPr>
            <a:xfrm>
              <a:off x="10638652" y="4430337"/>
              <a:ext cx="464410" cy="131979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grpSp>
        <p:nvGrpSpPr>
          <p:cNvPr id="95" name="Group 94"/>
          <p:cNvGrpSpPr/>
          <p:nvPr/>
        </p:nvGrpSpPr>
        <p:grpSpPr>
          <a:xfrm>
            <a:off x="5411484" y="1676315"/>
            <a:ext cx="942396" cy="975606"/>
            <a:chOff x="6943810" y="1965960"/>
            <a:chExt cx="1321228" cy="1367788"/>
          </a:xfrm>
        </p:grpSpPr>
        <p:sp>
          <p:nvSpPr>
            <p:cNvPr id="96" name="Rectangle 95"/>
            <p:cNvSpPr/>
            <p:nvPr/>
          </p:nvSpPr>
          <p:spPr>
            <a:xfrm>
              <a:off x="6943810" y="1965960"/>
              <a:ext cx="1321227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97" name="Rectangle 96"/>
            <p:cNvSpPr/>
            <p:nvPr/>
          </p:nvSpPr>
          <p:spPr>
            <a:xfrm>
              <a:off x="6944524" y="3072531"/>
              <a:ext cx="1320514" cy="26121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sp>
        <p:nvSpPr>
          <p:cNvPr id="99" name="TextBox 98"/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 dirty="0"/>
              <a:t>Variation 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8385" y="89790"/>
            <a:ext cx="453344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u="sng" dirty="0"/>
              <a:t>Third-angle projection</a:t>
            </a:r>
            <a:r>
              <a:rPr lang="en-SG" sz="1200" u="sng" dirty="0"/>
              <a:t>:</a:t>
            </a:r>
          </a:p>
          <a:p>
            <a:endParaRPr lang="en-SG" sz="1200" u="sng" dirty="0"/>
          </a:p>
          <a:p>
            <a:r>
              <a:rPr lang="en-SG" sz="1200" dirty="0"/>
              <a:t>T = elevation / front</a:t>
            </a:r>
          </a:p>
          <a:p>
            <a:r>
              <a:rPr lang="en-SG" sz="1200" dirty="0"/>
              <a:t>S = end / side</a:t>
            </a:r>
          </a:p>
          <a:p>
            <a:r>
              <a:rPr lang="en-SG" sz="1200" dirty="0"/>
              <a:t>P = plan / top</a:t>
            </a:r>
          </a:p>
        </p:txBody>
      </p:sp>
      <p:cxnSp>
        <p:nvCxnSpPr>
          <p:cNvPr id="12" name="Straight Connector 11"/>
          <p:cNvCxnSpPr/>
          <p:nvPr/>
        </p:nvCxnSpPr>
        <p:spPr>
          <a:xfrm>
            <a:off x="3502921" y="2754051"/>
            <a:ext cx="493588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>
          <a:xfrm flipV="1">
            <a:off x="6956614" y="1079552"/>
            <a:ext cx="0" cy="31285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697724" y="359126"/>
            <a:ext cx="601326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/>
              <a:t>Unfold such that elevation view is adjacent to  / center of other views.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/>
              <a:t>Third-angle projections are </a:t>
            </a:r>
            <a:r>
              <a:rPr lang="en-SG" sz="1400">
                <a:highlight>
                  <a:srgbClr val="FFFF00"/>
                </a:highlight>
              </a:rPr>
              <a:t>in between </a:t>
            </a:r>
            <a:r>
              <a:rPr lang="en-SG" sz="1400"/>
              <a:t>the object and the viewer / </a:t>
            </a:r>
            <a:r>
              <a:rPr lang="en-SG" sz="1400">
                <a:highlight>
                  <a:srgbClr val="FFFF00"/>
                </a:highlight>
              </a:rPr>
              <a:t>in front </a:t>
            </a:r>
            <a:r>
              <a:rPr lang="en-SG" sz="1400"/>
              <a:t>of the object.</a:t>
            </a:r>
          </a:p>
        </p:txBody>
      </p:sp>
      <p:cxnSp>
        <p:nvCxnSpPr>
          <p:cNvPr id="27" name="Straight Connector 26"/>
          <p:cNvCxnSpPr/>
          <p:nvPr/>
        </p:nvCxnSpPr>
        <p:spPr>
          <a:xfrm flipV="1">
            <a:off x="4947646" y="1161506"/>
            <a:ext cx="0" cy="304664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3310697" y="4138043"/>
            <a:ext cx="552124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Elevation is always on the vertical partition of the box.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Plan is always on the horizontal partition of the box.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Same as first-angle, even the locations of End 1 and End 2.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475783F-CC6C-4245-7011-04D68D7A95CA}"/>
              </a:ext>
            </a:extLst>
          </p:cNvPr>
          <p:cNvGrpSpPr/>
          <p:nvPr/>
        </p:nvGrpSpPr>
        <p:grpSpPr>
          <a:xfrm>
            <a:off x="98376" y="1124589"/>
            <a:ext cx="3100801" cy="3337759"/>
            <a:chOff x="98376" y="1124589"/>
            <a:chExt cx="3100801" cy="3337759"/>
          </a:xfrm>
        </p:grpSpPr>
        <p:sp>
          <p:nvSpPr>
            <p:cNvPr id="4" name="Parallelogram 3"/>
            <p:cNvSpPr/>
            <p:nvPr/>
          </p:nvSpPr>
          <p:spPr>
            <a:xfrm rot="9000000" flipV="1">
              <a:off x="369481" y="1486622"/>
              <a:ext cx="2573047" cy="1223764"/>
            </a:xfrm>
            <a:prstGeom prst="parallelogram">
              <a:avLst>
                <a:gd name="adj" fmla="val 58457"/>
              </a:avLst>
            </a:prstGeom>
            <a:solidFill>
              <a:srgbClr val="00B0F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4EB9D4C-B258-6E0F-2A01-222C69C1732C}"/>
                </a:ext>
              </a:extLst>
            </p:cNvPr>
            <p:cNvGrpSpPr/>
            <p:nvPr/>
          </p:nvGrpSpPr>
          <p:grpSpPr>
            <a:xfrm>
              <a:off x="98376" y="1124589"/>
              <a:ext cx="3100801" cy="3337759"/>
              <a:chOff x="98375" y="1099208"/>
              <a:chExt cx="3100801" cy="3337759"/>
            </a:xfrm>
          </p:grpSpPr>
          <p:sp>
            <p:nvSpPr>
              <p:cNvPr id="2" name="Parallelogram 1"/>
              <p:cNvSpPr/>
              <p:nvPr/>
            </p:nvSpPr>
            <p:spPr>
              <a:xfrm rot="16200000" flipV="1">
                <a:off x="1044313" y="2363057"/>
                <a:ext cx="2433876" cy="1617406"/>
              </a:xfrm>
              <a:prstGeom prst="parallelogram">
                <a:avLst>
                  <a:gd name="adj" fmla="val 57036"/>
                </a:avLst>
              </a:prstGeom>
              <a:solidFill>
                <a:srgbClr val="00B0F0">
                  <a:alpha val="5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sp>
            <p:nvSpPr>
              <p:cNvPr id="3" name="Parallelogram 2"/>
              <p:cNvSpPr/>
              <p:nvPr/>
            </p:nvSpPr>
            <p:spPr>
              <a:xfrm rot="16200000">
                <a:off x="-250537" y="2676409"/>
                <a:ext cx="2193467" cy="1222800"/>
              </a:xfrm>
              <a:prstGeom prst="parallelogram">
                <a:avLst>
                  <a:gd name="adj" fmla="val 56363"/>
                </a:avLst>
              </a:prstGeom>
              <a:solidFill>
                <a:srgbClr val="00B0F0">
                  <a:alpha val="5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sp>
            <p:nvSpPr>
              <p:cNvPr id="5" name="Parallelogram 4"/>
              <p:cNvSpPr/>
              <p:nvPr/>
            </p:nvSpPr>
            <p:spPr>
              <a:xfrm rot="16200000">
                <a:off x="1367974" y="1758621"/>
                <a:ext cx="2193467" cy="1222800"/>
              </a:xfrm>
              <a:prstGeom prst="parallelogram">
                <a:avLst>
                  <a:gd name="adj" fmla="val 56363"/>
                </a:avLst>
              </a:prstGeom>
              <a:solidFill>
                <a:schemeClr val="tx1">
                  <a:alpha val="5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sp>
            <p:nvSpPr>
              <p:cNvPr id="7" name="TextBox 6"/>
              <p:cNvSpPr txBox="1"/>
              <p:nvPr/>
            </p:nvSpPr>
            <p:spPr>
              <a:xfrm>
                <a:off x="2540560" y="4042552"/>
                <a:ext cx="3143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600" b="1">
                    <a:solidFill>
                      <a:srgbClr val="FF0000"/>
                    </a:solidFill>
                  </a:rPr>
                  <a:t>T</a:t>
                </a:r>
                <a:endParaRPr lang="en-GB" sz="1600" b="1">
                  <a:solidFill>
                    <a:srgbClr val="FF0000"/>
                  </a:solidFill>
                </a:endParaRPr>
              </a:p>
            </p:txBody>
          </p:sp>
          <p:cxnSp>
            <p:nvCxnSpPr>
              <p:cNvPr id="8" name="Straight Arrow Connector 7"/>
              <p:cNvCxnSpPr/>
              <p:nvPr/>
            </p:nvCxnSpPr>
            <p:spPr>
              <a:xfrm flipH="1" flipV="1">
                <a:off x="2127070" y="3673757"/>
                <a:ext cx="442264" cy="390137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TextBox 8"/>
              <p:cNvSpPr txBox="1"/>
              <p:nvPr/>
            </p:nvSpPr>
            <p:spPr>
              <a:xfrm>
                <a:off x="109852" y="4098413"/>
                <a:ext cx="55827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600" b="1">
                    <a:solidFill>
                      <a:srgbClr val="FF0000"/>
                    </a:solidFill>
                  </a:rPr>
                  <a:t>S1</a:t>
                </a:r>
                <a:endParaRPr lang="en-GB" sz="1600" b="1">
                  <a:solidFill>
                    <a:srgbClr val="FF0000"/>
                  </a:solidFill>
                </a:endParaRPr>
              </a:p>
            </p:txBody>
          </p:sp>
          <p:cxnSp>
            <p:nvCxnSpPr>
              <p:cNvPr id="10" name="Straight Arrow Connector 9"/>
              <p:cNvCxnSpPr/>
              <p:nvPr/>
            </p:nvCxnSpPr>
            <p:spPr>
              <a:xfrm>
                <a:off x="1453300" y="1471539"/>
                <a:ext cx="0" cy="586521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TextBox 10"/>
              <p:cNvSpPr txBox="1"/>
              <p:nvPr/>
            </p:nvSpPr>
            <p:spPr>
              <a:xfrm>
                <a:off x="1340510" y="1099208"/>
                <a:ext cx="3143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600" b="1">
                    <a:solidFill>
                      <a:srgbClr val="FF0000"/>
                    </a:solidFill>
                  </a:rPr>
                  <a:t>P</a:t>
                </a:r>
                <a:endParaRPr lang="en-GB" sz="1600" b="1">
                  <a:solidFill>
                    <a:srgbClr val="FF0000"/>
                  </a:solidFill>
                </a:endParaRPr>
              </a:p>
            </p:txBody>
          </p:sp>
          <p:sp>
            <p:nvSpPr>
              <p:cNvPr id="14" name="TextBox 13"/>
              <p:cNvSpPr txBox="1"/>
              <p:nvPr/>
            </p:nvSpPr>
            <p:spPr>
              <a:xfrm>
                <a:off x="2176185" y="2030492"/>
                <a:ext cx="1022991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200"/>
                  <a:t>Base</a:t>
                </a:r>
              </a:p>
            </p:txBody>
          </p:sp>
          <p:sp>
            <p:nvSpPr>
              <p:cNvPr id="16" name="Arrow: Curved Right 60"/>
              <p:cNvSpPr/>
              <p:nvPr/>
            </p:nvSpPr>
            <p:spPr>
              <a:xfrm rot="16970471">
                <a:off x="1763959" y="1792013"/>
                <a:ext cx="166720" cy="370315"/>
              </a:xfrm>
              <a:prstGeom prst="curvedRightArrow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200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Arrow: Curved Right 61"/>
              <p:cNvSpPr/>
              <p:nvPr/>
            </p:nvSpPr>
            <p:spPr>
              <a:xfrm rot="12042724" flipV="1">
                <a:off x="1184719" y="3000210"/>
                <a:ext cx="208918" cy="372484"/>
              </a:xfrm>
              <a:prstGeom prst="curvedRightArrow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20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TextBox 20"/>
              <p:cNvSpPr txBox="1"/>
              <p:nvPr/>
            </p:nvSpPr>
            <p:spPr>
              <a:xfrm>
                <a:off x="899747" y="2051767"/>
                <a:ext cx="102299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200"/>
                  <a:t>Horizontal partition </a:t>
                </a:r>
              </a:p>
            </p:txBody>
          </p:sp>
          <p:sp>
            <p:nvSpPr>
              <p:cNvPr id="22" name="TextBox 21"/>
              <p:cNvSpPr txBox="1"/>
              <p:nvPr/>
            </p:nvSpPr>
            <p:spPr>
              <a:xfrm>
                <a:off x="1664822" y="3034297"/>
                <a:ext cx="102299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200"/>
                  <a:t>Vertical partition </a:t>
                </a:r>
              </a:p>
            </p:txBody>
          </p:sp>
          <p:sp>
            <p:nvSpPr>
              <p:cNvPr id="23" name="TextBox 22"/>
              <p:cNvSpPr txBox="1"/>
              <p:nvPr/>
            </p:nvSpPr>
            <p:spPr>
              <a:xfrm>
                <a:off x="859376" y="3611289"/>
                <a:ext cx="1022991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200"/>
                  <a:t>Lid</a:t>
                </a:r>
              </a:p>
            </p:txBody>
          </p:sp>
          <p:cxnSp>
            <p:nvCxnSpPr>
              <p:cNvPr id="24" name="Straight Arrow Connector 23"/>
              <p:cNvCxnSpPr/>
              <p:nvPr/>
            </p:nvCxnSpPr>
            <p:spPr>
              <a:xfrm flipV="1">
                <a:off x="223872" y="3707163"/>
                <a:ext cx="558277" cy="408277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Arrow Connector 24"/>
              <p:cNvCxnSpPr/>
              <p:nvPr/>
            </p:nvCxnSpPr>
            <p:spPr>
              <a:xfrm flipH="1">
                <a:off x="2370417" y="2317767"/>
                <a:ext cx="436811" cy="367093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TextBox 25"/>
              <p:cNvSpPr txBox="1"/>
              <p:nvPr/>
            </p:nvSpPr>
            <p:spPr>
              <a:xfrm>
                <a:off x="2699522" y="2372028"/>
                <a:ext cx="4781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600" b="1">
                    <a:solidFill>
                      <a:srgbClr val="FF0000"/>
                    </a:solidFill>
                  </a:rPr>
                  <a:t>S2</a:t>
                </a:r>
                <a:endParaRPr lang="en-GB" sz="1600" b="1">
                  <a:solidFill>
                    <a:srgbClr val="FF0000"/>
                  </a:solidFill>
                </a:endParaRPr>
              </a:p>
            </p:txBody>
          </p:sp>
          <p:sp>
            <p:nvSpPr>
              <p:cNvPr id="34" name="Arrow: Curved Right 100"/>
              <p:cNvSpPr/>
              <p:nvPr/>
            </p:nvSpPr>
            <p:spPr>
              <a:xfrm rot="13634337" flipV="1">
                <a:off x="172215" y="2861320"/>
                <a:ext cx="166720" cy="314399"/>
              </a:xfrm>
              <a:prstGeom prst="curvedRightArrow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20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36" name="TextBox 35"/>
          <p:cNvSpPr txBox="1"/>
          <p:nvPr/>
        </p:nvSpPr>
        <p:spPr>
          <a:xfrm>
            <a:off x="5115052" y="2823545"/>
            <a:ext cx="16281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z="1400" dirty="0"/>
              <a:t>Vertical partition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32769" y="3281653"/>
            <a:ext cx="1178169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400" dirty="0"/>
              <a:t>Elevation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19515" y="1711694"/>
            <a:ext cx="610733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400" dirty="0"/>
              <a:t>Plan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31516" y="3271672"/>
            <a:ext cx="670455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r>
              <a:rPr lang="en-SG" sz="1400"/>
              <a:t>End 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81646" y="3271672"/>
            <a:ext cx="679273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r>
              <a:rPr lang="en-SG" sz="1400" dirty="0"/>
              <a:t>End 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41103" y="2755132"/>
            <a:ext cx="953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/>
              <a:t>Base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80900" y="2755132"/>
            <a:ext cx="953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dirty="0"/>
              <a:t>Lid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15057" y="2400126"/>
            <a:ext cx="16281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z="1400" dirty="0"/>
              <a:t>Horizontal partition 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653190" y="389145"/>
            <a:ext cx="1462740" cy="1603987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4077" y="2082176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S</a:t>
            </a:r>
            <a:endParaRPr lang="en-GB" sz="2400" b="1">
              <a:solidFill>
                <a:srgbClr val="FF0000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212713" y="429173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6" name="Straight Arrow Connector 5"/>
          <p:cNvCxnSpPr/>
          <p:nvPr/>
        </p:nvCxnSpPr>
        <p:spPr>
          <a:xfrm flipV="1">
            <a:off x="838009" y="1886617"/>
            <a:ext cx="277945" cy="25385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282067" y="125770"/>
            <a:ext cx="283182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Notice that P may not be given, because plan view is always from above.</a:t>
            </a:r>
            <a:endParaRPr lang="en-GB" sz="1400" dirty="0"/>
          </a:p>
        </p:txBody>
      </p:sp>
      <p:sp>
        <p:nvSpPr>
          <p:cNvPr id="8" name="Parallelogram 7"/>
          <p:cNvSpPr/>
          <p:nvPr/>
        </p:nvSpPr>
        <p:spPr>
          <a:xfrm rot="16200000">
            <a:off x="1271620" y="2725233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773772" y="2819127"/>
            <a:ext cx="1462740" cy="1603987"/>
          </a:xfrm>
          <a:prstGeom prst="rect">
            <a:avLst/>
          </a:prstGeom>
        </p:spPr>
      </p:pic>
      <p:sp>
        <p:nvSpPr>
          <p:cNvPr id="10" name="Parallelogram 9"/>
          <p:cNvSpPr/>
          <p:nvPr/>
        </p:nvSpPr>
        <p:spPr>
          <a:xfrm rot="16200000">
            <a:off x="26808" y="3463614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/>
          <p:cNvCxnSpPr/>
          <p:nvPr/>
        </p:nvCxnSpPr>
        <p:spPr>
          <a:xfrm flipV="1">
            <a:off x="773772" y="3985154"/>
            <a:ext cx="277945" cy="25385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17875" y="4349421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S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13" name="Straight Connector 12"/>
          <p:cNvCxnSpPr/>
          <p:nvPr/>
        </p:nvCxnSpPr>
        <p:spPr>
          <a:xfrm>
            <a:off x="3534017" y="2844533"/>
            <a:ext cx="47726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 flipV="1">
            <a:off x="6873473" y="1225421"/>
            <a:ext cx="0" cy="30251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322302" y="2918599"/>
            <a:ext cx="1308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16" name="Straight Connector 15"/>
          <p:cNvCxnSpPr/>
          <p:nvPr/>
        </p:nvCxnSpPr>
        <p:spPr>
          <a:xfrm flipV="1">
            <a:off x="4930955" y="1304663"/>
            <a:ext cx="0" cy="30447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436412" y="2938420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61754" y="2947259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65213" y="2507185"/>
            <a:ext cx="15179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grpSp>
        <p:nvGrpSpPr>
          <p:cNvPr id="20" name="Group 19"/>
          <p:cNvGrpSpPr/>
          <p:nvPr/>
        </p:nvGrpSpPr>
        <p:grpSpPr>
          <a:xfrm>
            <a:off x="3735458" y="3271326"/>
            <a:ext cx="1019564" cy="962670"/>
            <a:chOff x="9637776" y="1965960"/>
            <a:chExt cx="1469811" cy="1387792"/>
          </a:xfrm>
        </p:grpSpPr>
        <p:cxnSp>
          <p:nvCxnSpPr>
            <p:cNvPr id="21" name="Straight Connector 20"/>
            <p:cNvCxnSpPr/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/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/>
            <p:cNvCxnSpPr/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/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/>
          <p:cNvGrpSpPr/>
          <p:nvPr/>
        </p:nvGrpSpPr>
        <p:grpSpPr>
          <a:xfrm>
            <a:off x="5506122" y="3301742"/>
            <a:ext cx="948141" cy="948793"/>
            <a:chOff x="6898191" y="1965960"/>
            <a:chExt cx="1366847" cy="1367788"/>
          </a:xfrm>
        </p:grpSpPr>
        <p:sp>
          <p:nvSpPr>
            <p:cNvPr id="27" name="Rectangle 26"/>
            <p:cNvSpPr/>
            <p:nvPr/>
          </p:nvSpPr>
          <p:spPr>
            <a:xfrm>
              <a:off x="6898195" y="1965960"/>
              <a:ext cx="1366843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6898191" y="3088262"/>
              <a:ext cx="1366847" cy="24548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sp>
        <p:nvSpPr>
          <p:cNvPr id="29" name="TextBox 28"/>
          <p:cNvSpPr txBox="1"/>
          <p:nvPr/>
        </p:nvSpPr>
        <p:spPr>
          <a:xfrm>
            <a:off x="7227042" y="3598284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Not required</a:t>
            </a:r>
          </a:p>
        </p:txBody>
      </p:sp>
      <p:cxnSp>
        <p:nvCxnSpPr>
          <p:cNvPr id="30" name="Straight Arrow Connector 29"/>
          <p:cNvCxnSpPr/>
          <p:nvPr/>
        </p:nvCxnSpPr>
        <p:spPr>
          <a:xfrm flipH="1" flipV="1">
            <a:off x="1784860" y="179970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2063685" y="190557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sp>
        <p:nvSpPr>
          <p:cNvPr id="32" name="Parallelogram 31"/>
          <p:cNvSpPr/>
          <p:nvPr/>
        </p:nvSpPr>
        <p:spPr>
          <a:xfrm rot="9000000" flipV="1">
            <a:off x="518587" y="2494830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Parallelogram 32"/>
          <p:cNvSpPr/>
          <p:nvPr/>
        </p:nvSpPr>
        <p:spPr>
          <a:xfrm rot="16200000" flipV="1">
            <a:off x="1031721" y="3225751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5457558" y="86899"/>
            <a:ext cx="2831829" cy="5123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Remember, projections are in front of the object for the third angle.</a:t>
            </a:r>
            <a:endParaRPr lang="en-GB" sz="1400" dirty="0"/>
          </a:p>
        </p:txBody>
      </p:sp>
      <p:cxnSp>
        <p:nvCxnSpPr>
          <p:cNvPr id="35" name="Straight Arrow Connector 34"/>
          <p:cNvCxnSpPr/>
          <p:nvPr/>
        </p:nvCxnSpPr>
        <p:spPr>
          <a:xfrm flipH="1" flipV="1">
            <a:off x="1928819" y="423399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" name="Group 35"/>
          <p:cNvGrpSpPr/>
          <p:nvPr/>
        </p:nvGrpSpPr>
        <p:grpSpPr>
          <a:xfrm rot="5400000">
            <a:off x="5439245" y="1403878"/>
            <a:ext cx="1082547" cy="948793"/>
            <a:chOff x="9690394" y="4382344"/>
            <a:chExt cx="1412666" cy="1367788"/>
          </a:xfrm>
        </p:grpSpPr>
        <p:sp>
          <p:nvSpPr>
            <p:cNvPr id="37" name="Rectangle 36"/>
            <p:cNvSpPr/>
            <p:nvPr/>
          </p:nvSpPr>
          <p:spPr>
            <a:xfrm>
              <a:off x="9690394" y="4382344"/>
              <a:ext cx="1412665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10539114" y="4382344"/>
              <a:ext cx="563946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sp>
        <p:nvSpPr>
          <p:cNvPr id="40" name="TextBox 39"/>
          <p:cNvSpPr txBox="1"/>
          <p:nvPr/>
        </p:nvSpPr>
        <p:spPr>
          <a:xfrm>
            <a:off x="148385" y="89790"/>
            <a:ext cx="45334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u="sng" dirty="0"/>
              <a:t>Third-angle projection</a:t>
            </a:r>
            <a:r>
              <a:rPr lang="en-SG" sz="1200" u="sng" dirty="0"/>
              <a:t>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 dirty="0"/>
              <a:t>Variation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arallelogram 6"/>
          <p:cNvSpPr/>
          <p:nvPr/>
        </p:nvSpPr>
        <p:spPr>
          <a:xfrm rot="16200000">
            <a:off x="1271620" y="2725233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0" name="Picture 69"/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37363" y="2587036"/>
            <a:ext cx="1492523" cy="1635691"/>
          </a:xfrm>
          <a:prstGeom prst="rect">
            <a:avLst/>
          </a:prstGeom>
        </p:spPr>
      </p:pic>
      <p:pic>
        <p:nvPicPr>
          <p:cNvPr id="69" name="Picture 68"/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86042" y="446485"/>
            <a:ext cx="1492523" cy="163569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4077" y="2082176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S</a:t>
            </a:r>
            <a:endParaRPr lang="en-GB" sz="2400" b="1">
              <a:solidFill>
                <a:srgbClr val="FF0000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212713" y="429173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5" name="Straight Arrow Connector 4"/>
          <p:cNvCxnSpPr/>
          <p:nvPr/>
        </p:nvCxnSpPr>
        <p:spPr>
          <a:xfrm flipV="1">
            <a:off x="838009" y="1886617"/>
            <a:ext cx="277945" cy="25385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Parallelogram 8"/>
          <p:cNvSpPr/>
          <p:nvPr/>
        </p:nvSpPr>
        <p:spPr>
          <a:xfrm rot="16200000">
            <a:off x="26808" y="3463614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/>
          <p:cNvCxnSpPr/>
          <p:nvPr/>
        </p:nvCxnSpPr>
        <p:spPr>
          <a:xfrm flipV="1">
            <a:off x="773772" y="3985154"/>
            <a:ext cx="277945" cy="25385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17875" y="4349421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S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12" name="Straight Connector 11"/>
          <p:cNvCxnSpPr/>
          <p:nvPr/>
        </p:nvCxnSpPr>
        <p:spPr>
          <a:xfrm>
            <a:off x="3534017" y="2844533"/>
            <a:ext cx="47726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>
          <a:xfrm flipV="1">
            <a:off x="6873473" y="1225421"/>
            <a:ext cx="0" cy="30251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322302" y="2918599"/>
            <a:ext cx="1308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15" name="Straight Connector 14"/>
          <p:cNvCxnSpPr/>
          <p:nvPr/>
        </p:nvCxnSpPr>
        <p:spPr>
          <a:xfrm flipV="1">
            <a:off x="4930955" y="1304663"/>
            <a:ext cx="0" cy="30447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436412" y="2938420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61754" y="2947259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65213" y="2507185"/>
            <a:ext cx="15179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7042" y="3598284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Not required</a:t>
            </a:r>
          </a:p>
        </p:txBody>
      </p:sp>
      <p:cxnSp>
        <p:nvCxnSpPr>
          <p:cNvPr id="29" name="Straight Arrow Connector 28"/>
          <p:cNvCxnSpPr/>
          <p:nvPr/>
        </p:nvCxnSpPr>
        <p:spPr>
          <a:xfrm flipH="1" flipV="1">
            <a:off x="1784860" y="179970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2063685" y="190557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sp>
        <p:nvSpPr>
          <p:cNvPr id="31" name="Parallelogram 30"/>
          <p:cNvSpPr/>
          <p:nvPr/>
        </p:nvSpPr>
        <p:spPr>
          <a:xfrm rot="9000000" flipV="1">
            <a:off x="518587" y="2494830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Parallelogram 31"/>
          <p:cNvSpPr/>
          <p:nvPr/>
        </p:nvSpPr>
        <p:spPr>
          <a:xfrm rot="16200000" flipV="1">
            <a:off x="1031721" y="3225751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Arrow Connector 33"/>
          <p:cNvCxnSpPr/>
          <p:nvPr/>
        </p:nvCxnSpPr>
        <p:spPr>
          <a:xfrm flipH="1" flipV="1">
            <a:off x="1928819" y="423399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48385" y="89790"/>
            <a:ext cx="45334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u="sng" dirty="0"/>
              <a:t>Third-angle projection</a:t>
            </a:r>
            <a:r>
              <a:rPr lang="en-SG" sz="1200" u="sng" dirty="0"/>
              <a:t>: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452504" y="279360"/>
            <a:ext cx="36513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The object is rotated.</a:t>
            </a:r>
            <a:endParaRPr lang="en-GB" sz="1400" dirty="0"/>
          </a:p>
        </p:txBody>
      </p:sp>
      <p:sp>
        <p:nvSpPr>
          <p:cNvPr id="72" name="TextBox 71"/>
          <p:cNvSpPr txBox="1"/>
          <p:nvPr/>
        </p:nvSpPr>
        <p:spPr>
          <a:xfrm>
            <a:off x="5362648" y="191095"/>
            <a:ext cx="333327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The layout stays the same because the object is simply rotated.</a:t>
            </a:r>
            <a:endParaRPr lang="en-GB" sz="1400" dirty="0"/>
          </a:p>
        </p:txBody>
      </p:sp>
      <p:grpSp>
        <p:nvGrpSpPr>
          <p:cNvPr id="73" name="Group 72"/>
          <p:cNvGrpSpPr/>
          <p:nvPr/>
        </p:nvGrpSpPr>
        <p:grpSpPr>
          <a:xfrm>
            <a:off x="3606839" y="3300891"/>
            <a:ext cx="1049106" cy="1086076"/>
            <a:chOff x="6943810" y="1965960"/>
            <a:chExt cx="1321228" cy="1367788"/>
          </a:xfrm>
        </p:grpSpPr>
        <p:sp>
          <p:nvSpPr>
            <p:cNvPr id="74" name="Rectangle 73"/>
            <p:cNvSpPr/>
            <p:nvPr/>
          </p:nvSpPr>
          <p:spPr>
            <a:xfrm>
              <a:off x="6943810" y="1965960"/>
              <a:ext cx="1321227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5" name="Rectangle 74"/>
            <p:cNvSpPr/>
            <p:nvPr/>
          </p:nvSpPr>
          <p:spPr>
            <a:xfrm>
              <a:off x="6944524" y="3091896"/>
              <a:ext cx="1320514" cy="24185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76" name="Group 75"/>
          <p:cNvGrpSpPr/>
          <p:nvPr/>
        </p:nvGrpSpPr>
        <p:grpSpPr>
          <a:xfrm flipH="1">
            <a:off x="5321885" y="3253429"/>
            <a:ext cx="1180612" cy="1101960"/>
            <a:chOff x="9637776" y="1965960"/>
            <a:chExt cx="1469811" cy="1387792"/>
          </a:xfrm>
        </p:grpSpPr>
        <p:cxnSp>
          <p:nvCxnSpPr>
            <p:cNvPr id="77" name="Straight Connector 76"/>
            <p:cNvCxnSpPr/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/>
            <p:cNvCxnSpPr/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/>
            <p:cNvCxnSpPr/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/>
            <p:cNvCxnSpPr/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/>
            <p:cNvCxnSpPr/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2" name="Group 81"/>
          <p:cNvGrpSpPr/>
          <p:nvPr/>
        </p:nvGrpSpPr>
        <p:grpSpPr>
          <a:xfrm rot="10800000">
            <a:off x="5321973" y="1183779"/>
            <a:ext cx="1180521" cy="1086077"/>
            <a:chOff x="9757270" y="4382345"/>
            <a:chExt cx="1345791" cy="1367788"/>
          </a:xfrm>
        </p:grpSpPr>
        <p:sp>
          <p:nvSpPr>
            <p:cNvPr id="83" name="Rectangle 82"/>
            <p:cNvSpPr/>
            <p:nvPr/>
          </p:nvSpPr>
          <p:spPr>
            <a:xfrm>
              <a:off x="9757270" y="4382345"/>
              <a:ext cx="1345789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4" name="Rectangle 83"/>
            <p:cNvSpPr/>
            <p:nvPr/>
          </p:nvSpPr>
          <p:spPr>
            <a:xfrm>
              <a:off x="10494103" y="4382345"/>
              <a:ext cx="608958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85" name="TextBox 84"/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 dirty="0"/>
              <a:t>Variation 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 rot="16200000">
            <a:off x="1271620" y="2725233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37363" y="2587036"/>
            <a:ext cx="1492523" cy="1635691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86042" y="446485"/>
            <a:ext cx="1492523" cy="16356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21985" y="771050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 dirty="0">
                <a:solidFill>
                  <a:srgbClr val="FF0000"/>
                </a:solidFill>
              </a:rPr>
              <a:t>S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212713" y="429173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7" name="Straight Arrow Connector 6"/>
          <p:cNvCxnSpPr/>
          <p:nvPr/>
        </p:nvCxnSpPr>
        <p:spPr>
          <a:xfrm flipH="1">
            <a:off x="2118079" y="831635"/>
            <a:ext cx="334425" cy="28118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arallelogram 7"/>
          <p:cNvSpPr/>
          <p:nvPr/>
        </p:nvSpPr>
        <p:spPr>
          <a:xfrm rot="16200000">
            <a:off x="26808" y="3463614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/>
          <p:cNvCxnSpPr/>
          <p:nvPr/>
        </p:nvCxnSpPr>
        <p:spPr>
          <a:xfrm>
            <a:off x="3534017" y="2844533"/>
            <a:ext cx="47726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 flipV="1">
            <a:off x="6873473" y="1225421"/>
            <a:ext cx="0" cy="30251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322302" y="2918599"/>
            <a:ext cx="1308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14" name="Straight Connector 13"/>
          <p:cNvCxnSpPr/>
          <p:nvPr/>
        </p:nvCxnSpPr>
        <p:spPr>
          <a:xfrm flipV="1">
            <a:off x="4930955" y="1304663"/>
            <a:ext cx="0" cy="30447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436412" y="2938420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61754" y="2947259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65213" y="2507185"/>
            <a:ext cx="15179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63354" y="3858296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 dirty="0"/>
              <a:t>Not required</a:t>
            </a:r>
          </a:p>
        </p:txBody>
      </p:sp>
      <p:cxnSp>
        <p:nvCxnSpPr>
          <p:cNvPr id="19" name="Straight Arrow Connector 18"/>
          <p:cNvCxnSpPr/>
          <p:nvPr/>
        </p:nvCxnSpPr>
        <p:spPr>
          <a:xfrm flipH="1" flipV="1">
            <a:off x="1784860" y="179970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063685" y="190557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sp>
        <p:nvSpPr>
          <p:cNvPr id="21" name="Parallelogram 20"/>
          <p:cNvSpPr/>
          <p:nvPr/>
        </p:nvSpPr>
        <p:spPr>
          <a:xfrm rot="9000000" flipV="1">
            <a:off x="518587" y="2494830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Parallelogram 21"/>
          <p:cNvSpPr/>
          <p:nvPr/>
        </p:nvSpPr>
        <p:spPr>
          <a:xfrm rot="16200000" flipV="1">
            <a:off x="1031721" y="3225751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/>
          <p:cNvCxnSpPr/>
          <p:nvPr/>
        </p:nvCxnSpPr>
        <p:spPr>
          <a:xfrm flipH="1" flipV="1">
            <a:off x="1928819" y="423399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48385" y="89790"/>
            <a:ext cx="45334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u="sng" dirty="0"/>
              <a:t>Third-angle projection</a:t>
            </a:r>
            <a:r>
              <a:rPr lang="en-SG" sz="1200" u="sng" dirty="0"/>
              <a:t>:</a:t>
            </a:r>
          </a:p>
        </p:txBody>
      </p:sp>
      <p:grpSp>
        <p:nvGrpSpPr>
          <p:cNvPr id="30" name="Group 29"/>
          <p:cNvGrpSpPr/>
          <p:nvPr/>
        </p:nvGrpSpPr>
        <p:grpSpPr>
          <a:xfrm flipH="1">
            <a:off x="5321885" y="3253429"/>
            <a:ext cx="1180612" cy="1101960"/>
            <a:chOff x="9637776" y="1965960"/>
            <a:chExt cx="1469811" cy="1387792"/>
          </a:xfrm>
        </p:grpSpPr>
        <p:cxnSp>
          <p:nvCxnSpPr>
            <p:cNvPr id="31" name="Straight Connector 30"/>
            <p:cNvCxnSpPr/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/>
            <p:cNvCxnSpPr/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/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/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/>
          <p:cNvGrpSpPr/>
          <p:nvPr/>
        </p:nvGrpSpPr>
        <p:grpSpPr>
          <a:xfrm rot="10800000">
            <a:off x="5321973" y="1183779"/>
            <a:ext cx="1180521" cy="1086077"/>
            <a:chOff x="9757270" y="4382345"/>
            <a:chExt cx="1345791" cy="1367788"/>
          </a:xfrm>
        </p:grpSpPr>
        <p:sp>
          <p:nvSpPr>
            <p:cNvPr id="37" name="Rectangle 36"/>
            <p:cNvSpPr/>
            <p:nvPr/>
          </p:nvSpPr>
          <p:spPr>
            <a:xfrm>
              <a:off x="9757270" y="4382345"/>
              <a:ext cx="1345789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10494103" y="4382345"/>
              <a:ext cx="608958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39" name="TextBox 38"/>
          <p:cNvSpPr txBox="1"/>
          <p:nvPr/>
        </p:nvSpPr>
        <p:spPr>
          <a:xfrm>
            <a:off x="2315769" y="1327032"/>
            <a:ext cx="185487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The other end view is requested.</a:t>
            </a:r>
            <a:endParaRPr lang="en-GB" sz="1400" dirty="0"/>
          </a:p>
        </p:txBody>
      </p:sp>
      <p:sp>
        <p:nvSpPr>
          <p:cNvPr id="40" name="TextBox 39"/>
          <p:cNvSpPr txBox="1"/>
          <p:nvPr/>
        </p:nvSpPr>
        <p:spPr>
          <a:xfrm>
            <a:off x="4099305" y="190434"/>
            <a:ext cx="466080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Take note that the layout is different now. Third-angle projections are in front of the object.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Take note of the hidden line.</a:t>
            </a:r>
            <a:endParaRPr lang="en-GB" sz="1400" dirty="0"/>
          </a:p>
        </p:txBody>
      </p:sp>
      <p:sp>
        <p:nvSpPr>
          <p:cNvPr id="42" name="TextBox 41"/>
          <p:cNvSpPr txBox="1"/>
          <p:nvPr/>
        </p:nvSpPr>
        <p:spPr>
          <a:xfrm>
            <a:off x="2654739" y="2556624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 dirty="0">
                <a:solidFill>
                  <a:srgbClr val="FF0000"/>
                </a:solidFill>
              </a:rPr>
              <a:t>S</a:t>
            </a:r>
            <a:endParaRPr lang="en-GB" sz="2400" b="1" dirty="0">
              <a:solidFill>
                <a:srgbClr val="FF0000"/>
              </a:solidFill>
            </a:endParaRPr>
          </a:p>
        </p:txBody>
      </p:sp>
      <p:cxnSp>
        <p:nvCxnSpPr>
          <p:cNvPr id="43" name="Straight Arrow Connector 42"/>
          <p:cNvCxnSpPr/>
          <p:nvPr/>
        </p:nvCxnSpPr>
        <p:spPr>
          <a:xfrm flipH="1">
            <a:off x="2250833" y="2617209"/>
            <a:ext cx="334425" cy="28118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4" name="Group 43"/>
          <p:cNvGrpSpPr/>
          <p:nvPr/>
        </p:nvGrpSpPr>
        <p:grpSpPr>
          <a:xfrm>
            <a:off x="7307496" y="3265952"/>
            <a:ext cx="942441" cy="1101961"/>
            <a:chOff x="6943810" y="1788885"/>
            <a:chExt cx="1321228" cy="1544863"/>
          </a:xfrm>
        </p:grpSpPr>
        <p:sp>
          <p:nvSpPr>
            <p:cNvPr id="45" name="Rectangle 44"/>
            <p:cNvSpPr/>
            <p:nvPr/>
          </p:nvSpPr>
          <p:spPr>
            <a:xfrm>
              <a:off x="6943810" y="1788885"/>
              <a:ext cx="1321227" cy="154486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6944524" y="3072531"/>
              <a:ext cx="1320514" cy="261217"/>
            </a:xfrm>
            <a:prstGeom prst="rect">
              <a:avLst/>
            </a:prstGeom>
            <a:noFill/>
            <a:ln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</p:grpSp>
      <p:sp>
        <p:nvSpPr>
          <p:cNvPr id="47" name="TextBox 46"/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 dirty="0"/>
              <a:t>Variation 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Picture 38"/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55893" y="479480"/>
            <a:ext cx="1492523" cy="163569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43411" y="559008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 dirty="0">
                <a:solidFill>
                  <a:srgbClr val="FF0000"/>
                </a:solidFill>
              </a:rPr>
              <a:t>S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212713" y="429173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5" name="Straight Arrow Connector 4"/>
          <p:cNvCxnSpPr/>
          <p:nvPr/>
        </p:nvCxnSpPr>
        <p:spPr>
          <a:xfrm flipV="1">
            <a:off x="700150" y="1872240"/>
            <a:ext cx="277945" cy="25385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Parallelogram 6"/>
          <p:cNvSpPr/>
          <p:nvPr/>
        </p:nvSpPr>
        <p:spPr>
          <a:xfrm rot="16200000">
            <a:off x="1271620" y="2725233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773772" y="2819127"/>
            <a:ext cx="1462740" cy="1603987"/>
          </a:xfrm>
          <a:prstGeom prst="rect">
            <a:avLst/>
          </a:prstGeom>
        </p:spPr>
      </p:pic>
      <p:sp>
        <p:nvSpPr>
          <p:cNvPr id="9" name="Parallelogram 8"/>
          <p:cNvSpPr/>
          <p:nvPr/>
        </p:nvSpPr>
        <p:spPr>
          <a:xfrm rot="16200000">
            <a:off x="26808" y="3463614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/>
          <p:cNvCxnSpPr/>
          <p:nvPr/>
        </p:nvCxnSpPr>
        <p:spPr>
          <a:xfrm flipV="1">
            <a:off x="773772" y="3985154"/>
            <a:ext cx="277945" cy="25385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17875" y="4349421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S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12" name="Straight Connector 11"/>
          <p:cNvCxnSpPr/>
          <p:nvPr/>
        </p:nvCxnSpPr>
        <p:spPr>
          <a:xfrm>
            <a:off x="3534017" y="2844533"/>
            <a:ext cx="47726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>
          <a:xfrm flipV="1">
            <a:off x="6873473" y="1225421"/>
            <a:ext cx="0" cy="30251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322302" y="2918599"/>
            <a:ext cx="1308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15" name="Straight Connector 14"/>
          <p:cNvCxnSpPr/>
          <p:nvPr/>
        </p:nvCxnSpPr>
        <p:spPr>
          <a:xfrm flipV="1">
            <a:off x="4930955" y="1304663"/>
            <a:ext cx="0" cy="30447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436412" y="2938420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61754" y="2947259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65213" y="2507185"/>
            <a:ext cx="15179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grpSp>
        <p:nvGrpSpPr>
          <p:cNvPr id="19" name="Group 18"/>
          <p:cNvGrpSpPr/>
          <p:nvPr/>
        </p:nvGrpSpPr>
        <p:grpSpPr>
          <a:xfrm>
            <a:off x="3735458" y="3271326"/>
            <a:ext cx="1019564" cy="962670"/>
            <a:chOff x="9637776" y="1965960"/>
            <a:chExt cx="1469811" cy="1387792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/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/>
            <p:cNvCxnSpPr/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5506122" y="3301742"/>
            <a:ext cx="948141" cy="948793"/>
            <a:chOff x="6898191" y="1965960"/>
            <a:chExt cx="1366847" cy="1367788"/>
          </a:xfrm>
        </p:grpSpPr>
        <p:sp>
          <p:nvSpPr>
            <p:cNvPr id="26" name="Rectangle 25"/>
            <p:cNvSpPr/>
            <p:nvPr/>
          </p:nvSpPr>
          <p:spPr>
            <a:xfrm>
              <a:off x="6898195" y="1965960"/>
              <a:ext cx="1366843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6898191" y="3088262"/>
              <a:ext cx="1366847" cy="24548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sp>
        <p:nvSpPr>
          <p:cNvPr id="28" name="TextBox 27"/>
          <p:cNvSpPr txBox="1"/>
          <p:nvPr/>
        </p:nvSpPr>
        <p:spPr>
          <a:xfrm>
            <a:off x="7227042" y="3598284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Not required</a:t>
            </a:r>
          </a:p>
        </p:txBody>
      </p:sp>
      <p:cxnSp>
        <p:nvCxnSpPr>
          <p:cNvPr id="29" name="Straight Arrow Connector 28"/>
          <p:cNvCxnSpPr/>
          <p:nvPr/>
        </p:nvCxnSpPr>
        <p:spPr>
          <a:xfrm>
            <a:off x="583526" y="829335"/>
            <a:ext cx="329218" cy="28898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29833" y="2037918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 dirty="0">
                <a:solidFill>
                  <a:srgbClr val="FF0000"/>
                </a:solidFill>
              </a:rPr>
              <a:t>T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31" name="Parallelogram 30"/>
          <p:cNvSpPr/>
          <p:nvPr/>
        </p:nvSpPr>
        <p:spPr>
          <a:xfrm rot="9000000" flipV="1">
            <a:off x="518587" y="2494830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Parallelogram 31"/>
          <p:cNvSpPr/>
          <p:nvPr/>
        </p:nvSpPr>
        <p:spPr>
          <a:xfrm rot="16200000" flipV="1">
            <a:off x="1031721" y="3225751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Arrow Connector 33"/>
          <p:cNvCxnSpPr/>
          <p:nvPr/>
        </p:nvCxnSpPr>
        <p:spPr>
          <a:xfrm flipH="1" flipV="1">
            <a:off x="1928819" y="423399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" name="Group 34"/>
          <p:cNvGrpSpPr/>
          <p:nvPr/>
        </p:nvGrpSpPr>
        <p:grpSpPr>
          <a:xfrm rot="5400000">
            <a:off x="5439245" y="1403878"/>
            <a:ext cx="1082547" cy="948793"/>
            <a:chOff x="9690394" y="4382344"/>
            <a:chExt cx="1412666" cy="1367788"/>
          </a:xfrm>
        </p:grpSpPr>
        <p:sp>
          <p:nvSpPr>
            <p:cNvPr id="36" name="Rectangle 35"/>
            <p:cNvSpPr/>
            <p:nvPr/>
          </p:nvSpPr>
          <p:spPr>
            <a:xfrm>
              <a:off x="9690394" y="4382344"/>
              <a:ext cx="1412665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10539114" y="4382344"/>
              <a:ext cx="563946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sp>
        <p:nvSpPr>
          <p:cNvPr id="38" name="TextBox 37"/>
          <p:cNvSpPr txBox="1"/>
          <p:nvPr/>
        </p:nvSpPr>
        <p:spPr>
          <a:xfrm>
            <a:off x="148385" y="89790"/>
            <a:ext cx="45334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u="sng" dirty="0"/>
              <a:t>Third-angle projection</a:t>
            </a:r>
            <a:r>
              <a:rPr lang="en-SG" sz="1200" u="sng" dirty="0"/>
              <a:t>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70545" y="624064"/>
            <a:ext cx="270199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The elevation view of the question has changed.</a:t>
            </a:r>
            <a:endParaRPr lang="en-GB" sz="1400" dirty="0"/>
          </a:p>
        </p:txBody>
      </p:sp>
      <p:sp>
        <p:nvSpPr>
          <p:cNvPr id="44" name="TextBox 43"/>
          <p:cNvSpPr txBox="1"/>
          <p:nvPr/>
        </p:nvSpPr>
        <p:spPr>
          <a:xfrm>
            <a:off x="4643052" y="261078"/>
            <a:ext cx="46608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/>
              <a:t>Comment: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/>
              <a:t>The final drawings are the same as Variation 1.</a:t>
            </a:r>
            <a:endParaRPr lang="en-GB" sz="1400"/>
          </a:p>
        </p:txBody>
      </p:sp>
      <p:sp>
        <p:nvSpPr>
          <p:cNvPr id="45" name="TextBox 44"/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 dirty="0"/>
              <a:t>Variation 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4 – Orthographic P</a:t>
            </a:r>
            <a:r>
              <a:rPr lang="en-US" altLang="zh-CN" sz="2800" b="1" dirty="0"/>
              <a:t>rojection</a:t>
            </a:r>
            <a:endParaRPr lang="en-US" sz="2800" b="1" dirty="0"/>
          </a:p>
        </p:txBody>
      </p:sp>
      <p:sp>
        <p:nvSpPr>
          <p:cNvPr id="2" name="TextBox 1"/>
          <p:cNvSpPr txBox="1"/>
          <p:nvPr/>
        </p:nvSpPr>
        <p:spPr>
          <a:xfrm>
            <a:off x="317634" y="835119"/>
            <a:ext cx="2008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</a:t>
            </a:r>
            <a:r>
              <a:rPr lang="en-US" altLang="zh-CN" dirty="0"/>
              <a:t>irst Quadrant</a:t>
            </a:r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083048" y="835119"/>
            <a:ext cx="7012825" cy="741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Plan is always below elevation</a:t>
            </a:r>
          </a:p>
          <a:p>
            <a:pPr marL="285750" indent="-285750">
              <a:lnSpc>
                <a:spcPct val="150000"/>
              </a:lnSpc>
              <a:buFont typeface="Arial" panose="020B060402020209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P</a:t>
            </a:r>
            <a:r>
              <a:rPr lang="en-US" altLang="zh-CN" dirty="0">
                <a:solidFill>
                  <a:srgbClr val="FF0000"/>
                </a:solidFill>
              </a:rPr>
              <a:t>roject the view at the back of project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17634" y="1846351"/>
            <a:ext cx="2008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</a:t>
            </a:r>
            <a:r>
              <a:rPr lang="en-US" altLang="zh-CN" dirty="0"/>
              <a:t>hird Quadrant</a:t>
            </a:r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2083048" y="1706272"/>
            <a:ext cx="7012825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9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Plan is always above elevation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P</a:t>
            </a:r>
            <a:r>
              <a:rPr lang="en-US" altLang="zh-CN" dirty="0">
                <a:solidFill>
                  <a:srgbClr val="FF0000"/>
                </a:solidFill>
              </a:rPr>
              <a:t>roject the view in front of the object plane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17634" y="2685195"/>
            <a:ext cx="2008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Direction 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83046" y="2685195"/>
            <a:ext cx="70128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Elevation View (first to draw)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636" y="3242521"/>
            <a:ext cx="2008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Direction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83048" y="3242521"/>
            <a:ext cx="44595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End of 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1166" y="3851124"/>
            <a:ext cx="81293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Distance from Horizontal &amp; Vertical Plan must be equal </a:t>
            </a:r>
            <a:r>
              <a:rPr lang="en-US" dirty="0">
                <a:solidFill>
                  <a:srgbClr val="FF0000"/>
                </a:solidFill>
              </a:rPr>
              <a:t>for projecting points, lines &amp;surface measurements</a:t>
            </a:r>
            <a:r>
              <a:rPr lang="en-US" dirty="0"/>
              <a:t> from one view to another views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1166" y="4493024"/>
            <a:ext cx="55008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/>
              </a:rPr>
              <a:t>https://www.youtube.com/watch?v=heIobpUVZqc</a:t>
            </a:r>
            <a:endParaRPr 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3BB14-3040-1EE3-22D7-BAABECBF8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8B44BD90-21C7-72BC-330F-BD9969AEC3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7481" y="691661"/>
            <a:ext cx="3949037" cy="405576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65650FF-466B-93CD-EA5F-418EDC2BA2E1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4 – Orthographic P</a:t>
            </a:r>
            <a:r>
              <a:rPr lang="en-US" altLang="zh-CN" sz="2800" b="1" dirty="0"/>
              <a:t>rojection</a:t>
            </a:r>
            <a:endParaRPr 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26638896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066AF-A921-28C1-8AF9-8942C769A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>
            <a:extLst>
              <a:ext uri="{FF2B5EF4-FFF2-40B4-BE49-F238E27FC236}">
                <a16:creationId xmlns:a16="http://schemas.microsoft.com/office/drawing/2014/main" id="{F878ED72-6AB0-C9FD-E8F2-DA516DC3B38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457" b="26251"/>
          <a:stretch>
            <a:fillRect/>
          </a:stretch>
        </p:blipFill>
        <p:spPr>
          <a:xfrm>
            <a:off x="6727790" y="810296"/>
            <a:ext cx="2372530" cy="3049675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9BE9A133-4B19-3FFA-927C-8D5E691E160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4456" b="16777"/>
          <a:stretch>
            <a:fillRect/>
          </a:stretch>
        </p:blipFill>
        <p:spPr>
          <a:xfrm>
            <a:off x="4194689" y="810296"/>
            <a:ext cx="2372530" cy="353702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F7CF7B7-7CE4-AE82-E71E-3279B130976D}"/>
              </a:ext>
            </a:extLst>
          </p:cNvPr>
          <p:cNvSpPr txBox="1"/>
          <p:nvPr/>
        </p:nvSpPr>
        <p:spPr>
          <a:xfrm>
            <a:off x="317634" y="168441"/>
            <a:ext cx="54649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Where to download </a:t>
            </a:r>
            <a:r>
              <a:rPr lang="en-US" sz="2800" b="1"/>
              <a:t>the slides?</a:t>
            </a:r>
            <a:endParaRPr lang="en-US" altLang="zh-CN" sz="2800" b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E0F29FD-C5C8-23F9-EA3F-D17CCFB0B60B}"/>
              </a:ext>
            </a:extLst>
          </p:cNvPr>
          <p:cNvSpPr/>
          <p:nvPr/>
        </p:nvSpPr>
        <p:spPr>
          <a:xfrm>
            <a:off x="4320790" y="2461846"/>
            <a:ext cx="2130251" cy="276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B088EBD-1777-E072-C48A-7B3EB1AD8169}"/>
              </a:ext>
            </a:extLst>
          </p:cNvPr>
          <p:cNvSpPr/>
          <p:nvPr/>
        </p:nvSpPr>
        <p:spPr>
          <a:xfrm>
            <a:off x="7584221" y="2008719"/>
            <a:ext cx="1259095" cy="1867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3545CA8-659F-6416-28CF-C6D29B01723D}"/>
              </a:ext>
            </a:extLst>
          </p:cNvPr>
          <p:cNvCxnSpPr>
            <a:cxnSpLocks/>
          </p:cNvCxnSpPr>
          <p:nvPr/>
        </p:nvCxnSpPr>
        <p:spPr>
          <a:xfrm flipH="1">
            <a:off x="8797530" y="1708220"/>
            <a:ext cx="150527" cy="30289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图片 2" descr="QR Code Image">
            <a:extLst>
              <a:ext uri="{FF2B5EF4-FFF2-40B4-BE49-F238E27FC236}">
                <a16:creationId xmlns:a16="http://schemas.microsoft.com/office/drawing/2014/main" id="{FB950885-3997-1140-D6CE-2D36C1F008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810296"/>
            <a:ext cx="3869873" cy="3869873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A1266E3-78EA-F711-3D66-742DA96A4E23}"/>
              </a:ext>
            </a:extLst>
          </p:cNvPr>
          <p:cNvCxnSpPr>
            <a:cxnSpLocks/>
          </p:cNvCxnSpPr>
          <p:nvPr/>
        </p:nvCxnSpPr>
        <p:spPr>
          <a:xfrm flipV="1">
            <a:off x="3781339" y="1085516"/>
            <a:ext cx="651091" cy="55055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46326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c="http://schemas.microsoft.com/office/infopath/2007/PartnerControls" xmlns:p="http://schemas.microsoft.com/office/2006/metadata/properties" xmlns:xsi="http://www.w3.org/2001/XMLSchema-instance">
  <documentManagement>
    <PublishingExpirationDate xmlns="http://schemas.microsoft.com/sharepoint/v3" xsi:nil="true"/>
    <PublishingStartDate xmlns="http://schemas.microsoft.com/sharepoint/v3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contentTypeID="0x010100E28E816AC679FF4C86C22834E825BD05" ma:_="" ma:contentTypeName="Document" ma:contentTypeVersion="1" ma:versionID="066e42d507d75a122d0db91dd470f30a" ma:contentTypeDescription="Create a new document." ma:contentTypeScope="">
  <xsd:schema xmlns:ns1="http://schemas.microsoft.com/sharepoint/v3" xmlns:xsd="http://www.w3.org/2001/XMLSchema" xmlns:xs="http://www.w3.org/2001/XMLSchema" xmlns:p="http://schemas.microsoft.com/office/2006/metadata/properties" ma:root="true" ns1:_="" targetNamespace="http://schemas.microsoft.com/office/2006/metadata/properties" ma:fieldsID="48c5b5cd9b8d25ff6dd15848836f4270">
    <xsd:import namespace="http://schemas.microsoft.com/sharepoint/v3"/>
    <xsd:element name="properties">
      <xsd:complexType>
        <xsd:sequence>
          <xsd:element name="documentManagement">
            <xsd:complexType>
              <xsd:all>
                <xsd:element ref="ns1:PublishingStartDate" minOccurs="0"/>
                <xsd:element ref="ns1:PublishingExpirationDate" minOccurs="0"/>
              </xsd:all>
            </xsd:complexType>
          </xsd:element>
        </xsd:sequence>
      </xsd:complexType>
    </xsd:element>
  </xsd:schema>
  <xsd:schema xmlns:pc="http://schemas.microsoft.com/office/infopath/2007/PartnerControls" xmlns:xsd="http://www.w3.org/2001/XMLSchema" xmlns:xs="http://www.w3.org/2001/XMLSchema" xmlns:dms="http://schemas.microsoft.com/office/2006/documentManagement/types" elementFormDefault="qualified" targetNamespace="http://schemas.microsoft.com/sharepoint/v3">
    <xsd:import namespace="http://schemas.microsoft.com/office/2006/documentManagement/types"/>
    <xsd:import namespace="http://schemas.microsoft.com/office/infopath/2007/PartnerControls"/>
    <xsd:element ma:index="8" ma:hidden="true" ma:displayName="Scheduling Start Date" ma:internalName="PublishingStartDate" ma:description="Scheduling Start Date is a site column created by the Publishing feature. It is used to specify the date and time on which this page will first appear to site visitors." nillable="true" name="PublishingStartDate">
      <xsd:simpleType>
        <xsd:restriction base="dms:Unknown"/>
      </xsd:simpleType>
    </xsd:element>
    <xsd:element ma:index="9" ma:hidden="true" ma:displayName="Scheduling End Date" ma:internalName="PublishingExpirationDate" ma:description="Scheduling End Date is a site column created by the Publishing feature. It is used to specify the date and time on which this page will no longer appear to site visitors." nillable="true" name="PublishingExpirationDate">
      <xsd:simpleType>
        <xsd:restriction base="dms:Unknown"/>
      </xsd:simpleType>
    </xsd:element>
  </xsd:schema>
  <xsd:schema xmlns:dcterms="http://purl.org/dc/terms/" xmlns:dc="http://purl.org/dc/elements/1.1/" xmlns:odoc="http://schemas.microsoft.com/internal/obd" xmlns:xsd="http://www.w3.org/2001/XMLSchema" xmlns:xsi="http://www.w3.org/2001/XMLSchema-instance" xmlns="http://schemas.openxmlformats.org/package/2006/metadata/core-properties" elementFormDefault="qualified" attributeFormDefault="unqualified" targetNamespace="http://schemas.openxmlformats.org/package/2006/metadata/core-properties" blockDefault="#all">
    <xsd:import schemaLocation="http://dublincore.org/schemas/xmls/qdc/2003/04/02/dc.xsd" namespace="http://purl.org/dc/elements/1.1/"/>
    <xsd:import schemaLocation="http://dublincore.org/schemas/xmls/qdc/2003/04/02/dcterms.xsd" namespace="http://purl.org/dc/terms/"/>
    <xsd:element type="CT_coreProperties" name="coreProperties"/>
    <xsd:complexType name="CT_coreProperties">
      <xsd:all>
        <xsd:element ref="dc:creator" maxOccurs="1" minOccurs="0"/>
        <xsd:element ref="dcterms:created" maxOccurs="1" minOccurs="0"/>
        <xsd:element ref="dc:identifier" maxOccurs="1" minOccurs="0"/>
        <xsd:element ma:index="0" ma:displayName="Content Type" type="xsd:string" maxOccurs="1" minOccurs="0" name="contentType"/>
        <xsd:element ma:index="4" ma:displayName="Title" ref="dc:title" maxOccurs="1" minOccurs="0"/>
        <xsd:element ref="dc:subject" maxOccurs="1" minOccurs="0"/>
        <xsd:element ref="dc:description" maxOccurs="1" minOccurs="0"/>
        <xsd:element type="xsd:string" maxOccurs="1" minOccurs="0" name="keywords"/>
        <xsd:element ref="dc:language" maxOccurs="1" minOccurs="0"/>
        <xsd:element type="xsd:string" maxOccurs="1" minOccurs="0" name="category"/>
        <xsd:element type="xsd:string" maxOccurs="1" minOccurs="0" name="version"/>
        <xsd:element type="xsd:string" maxOccurs="1" minOccurs="0" name="revision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type="xsd:string" maxOccurs="1" minOccurs="0" name="lastModifiedBy"/>
        <xsd:element ref="dcterms:modified" maxOccurs="1" minOccurs="0"/>
        <xsd:element type="xsd:string" maxOccurs="1" minOccurs="0" name="contentStatus"/>
      </xsd:all>
    </xsd:complexType>
  </xsd:schema>
  <xs:schema xmlns:pc="http://schemas.microsoft.com/office/infopath/2007/PartnerControls" xmlns:xs="http://www.w3.org/2001/XMLSchema" elementFormDefault="qualified" attributeFormDefault="unqualified" targetNamespace="http://schemas.microsoft.com/office/infopath/2007/PartnerControls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type="xs:string" name="DisplayName"/>
    <xs:element type="xs:string" name="AccountId"/>
    <xs:element type="xs:string" name="AccountType"/>
    <xs:element name="BDCAssociatedEntity">
      <xs:complexType>
        <xs:sequence>
          <xs:element ref="pc:BDCEntity" maxOccurs="unbounded" minOccurs="0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type="xs:string" name="EntityNamespace"/>
    <xs:attribute type="xs:string" name="EntityName"/>
    <xs:attribute type="xs:string" name="SystemInstanceName"/>
    <xs:attribute type="xs:string" name="AssociationName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type="xs:string" name="EntityDisplayName"/>
    <xs:element type="xs:string" name="EntityInstanceReference"/>
    <xs:element type="xs:string" name="EntityId1"/>
    <xs:element type="xs:string" name="EntityId2"/>
    <xs:element type="xs:string" name="EntityId3"/>
    <xs:element type="xs:string" name="EntityId4"/>
    <xs:element type="xs:string" name="EntityId5"/>
    <xs:element name="Terms">
      <xs:complexType>
        <xs:sequence>
          <xs:element ref="pc:TermInfo" maxOccurs="unbounded" minOccurs="0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type="xs:string" name="TermName"/>
    <xs:element type="xs:string" name="TermId"/>
  </xs:schema>
</ct:contentTypeSchema>
</file>

<file path=customXml/itemProps1.xml><?xml version="1.0" encoding="utf-8"?>
<ds:datastoreItem xmlns:ds="http://schemas.openxmlformats.org/officeDocument/2006/customXml" ds:itemID="{264D3FE7-A0C8-4453-A806-BCAD6F53B901}">
  <ds:schemaRefs/>
</ds:datastoreItem>
</file>

<file path=customXml/itemProps2.xml><?xml version="1.0" encoding="utf-8"?>
<ds:datastoreItem xmlns:ds="http://schemas.openxmlformats.org/officeDocument/2006/customXml" ds:itemID="{6CCB8030-6F99-446F-BD3B-E5E3F435F1FD}">
  <ds:schemaRefs/>
</ds:datastoreItem>
</file>

<file path=customXml/itemProps3.xml><?xml version="1.0" encoding="utf-8"?>
<ds:datastoreItem xmlns:ds="http://schemas.openxmlformats.org/officeDocument/2006/customXml" ds:itemID="{AFA540F8-4ACB-4DC8-920F-A3CE5A42B988}">
  <ds:schemaRefs/>
</ds:datastoreItem>
</file>

<file path=docMetadata/LabelInfo.xml><?xml version="1.0" encoding="utf-8"?>
<clbl:labelList xmlns:clbl="http://schemas.microsoft.com/office/2020/mipLabelMetadata">
  <clbl:label id="{15ce9348-be2a-462b-8fc0-e1765a9b204a}" enabled="0" method="" siteId="{15ce9348-be2a-462b-8fc0-e1765a9b204a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171</TotalTime>
  <Words>746</Words>
  <Application>Microsoft Office PowerPoint</Application>
  <PresentationFormat>全屏显示(16:9)</PresentationFormat>
  <Paragraphs>216</Paragraphs>
  <Slides>18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0" baseType="lpstr">
      <vt:lpstr>Arial</vt:lpstr>
      <vt:lpstr>Office Theme</vt:lpstr>
      <vt:lpstr>CV1711 ENGINEERING DRAWING &amp; 3D BUILD  INFO MODEL (LAB)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#JIANG SHUO#</cp:lastModifiedBy>
  <cp:revision>35</cp:revision>
  <dcterms:created xsi:type="dcterms:W3CDTF">2026-01-30T01:04:09Z</dcterms:created>
  <dcterms:modified xsi:type="dcterms:W3CDTF">2026-08-17T05:07:11Z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0x010100E28E816AC679FF4C86C22834E825BD05</vt:lpwstr>
  </property>
  <property fmtid="{D5CDD505-2E9C-101B-9397-08002B2CF9AE}" pid="3" name="ICV">
    <vt:lpwstr>D06F3063DBEB4E4B89037C69EEA92AB1_42</vt:lpwstr>
  </property>
  <property fmtid="{D5CDD505-2E9C-101B-9397-08002B2CF9AE}" pid="4" name="KSOProductBuildVer">
    <vt:lpwstr>1033-12.1.23540.23540</vt:lpwstr>
  </property>
</Properties>
</file>