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handoutMasterIdLst>
    <p:handoutMasterId r:id="rId23"/>
  </p:handoutMasterIdLst>
  <p:sldIdLst>
    <p:sldId id="259" r:id="rId5"/>
    <p:sldId id="262" r:id="rId6"/>
    <p:sldId id="270" r:id="rId7"/>
    <p:sldId id="330" r:id="rId8"/>
    <p:sldId id="271" r:id="rId9"/>
    <p:sldId id="272" r:id="rId10"/>
    <p:sldId id="275" r:id="rId11"/>
    <p:sldId id="282" r:id="rId12"/>
    <p:sldId id="276" r:id="rId13"/>
    <p:sldId id="287" r:id="rId14"/>
    <p:sldId id="283" r:id="rId15"/>
    <p:sldId id="284" r:id="rId16"/>
    <p:sldId id="285" r:id="rId17"/>
    <p:sldId id="286" r:id="rId18"/>
    <p:sldId id="288" r:id="rId19"/>
    <p:sldId id="266" r:id="rId20"/>
    <p:sldId id="267" r:id="rId21"/>
    <p:sldId id="331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B7F790-36C3-4FDC-A831-EEF898513DD6}" v="1" dt="2026-08-17T05:07:01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 autoAdjust="0"/>
    <p:restoredTop sz="94763"/>
  </p:normalViewPr>
  <p:slideViewPr>
    <p:cSldViewPr snapToGrid="0" snapToObjects="1" showGuides="1">
      <p:cViewPr varScale="1">
        <p:scale>
          <a:sx n="152" d="100"/>
          <a:sy n="152" d="100"/>
        </p:scale>
        <p:origin x="408" y="96"/>
      </p:cViewPr>
      <p:guideLst>
        <p:guide orient="horz" pos="15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IANG SHUO#" userId="fb4bb6a7-b10d-4e4a-bf68-a269bc875e77" providerId="ADAL" clId="{FCFA541B-5210-44D5-866D-E58C6E9566A6}"/>
    <pc:docChg chg="addSld delSld modSld">
      <pc:chgData name="#JIANG SHUO#" userId="fb4bb6a7-b10d-4e4a-bf68-a269bc875e77" providerId="ADAL" clId="{FCFA541B-5210-44D5-866D-E58C6E9566A6}" dt="2026-08-17T05:07:03.353" v="2" actId="47"/>
      <pc:docMkLst>
        <pc:docMk/>
      </pc:docMkLst>
      <pc:sldChg chg="del">
        <pc:chgData name="#JIANG SHUO#" userId="fb4bb6a7-b10d-4e4a-bf68-a269bc875e77" providerId="ADAL" clId="{FCFA541B-5210-44D5-866D-E58C6E9566A6}" dt="2026-08-17T05:07:03.353" v="2" actId="47"/>
        <pc:sldMkLst>
          <pc:docMk/>
          <pc:sldMk cId="987049720" sldId="269"/>
        </pc:sldMkLst>
      </pc:sldChg>
      <pc:sldChg chg="add">
        <pc:chgData name="#JIANG SHUO#" userId="fb4bb6a7-b10d-4e4a-bf68-a269bc875e77" providerId="ADAL" clId="{FCFA541B-5210-44D5-866D-E58C6E9566A6}" dt="2026-08-17T05:07:01.354" v="1"/>
        <pc:sldMkLst>
          <pc:docMk/>
          <pc:sldMk cId="1394632675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9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 panose="020B0604020202090204"/>
              </a:rPr>
              <a:t>8/17/2026</a:t>
            </a:fld>
            <a:endParaRPr lang="en-US" dirty="0">
              <a:latin typeface="Arial" panose="020B060402020209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9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 panose="020B0604020202090204"/>
              </a:rPr>
              <a:t>‹#›</a:t>
            </a:fld>
            <a:endParaRPr lang="en-US" dirty="0"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fld id="{9F1CC899-6CEC-9548-B06D-7E1EB6F78CA3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fld id="{8E6562B1-0B0F-0246-9532-09536BC2AE5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Arial" panose="020B060402020209020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Arial" panose="020B060402020209020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Arial" panose="020B060402020209020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Arial" panose="020B060402020209020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Arial" panose="020B0604020202090204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heIobpUVZqc?si=No0iEweG8M1roWw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eIobpUVZq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 panose="020B0604020202090204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 panose="020B0604020202090204"/>
              </a:rPr>
            </a:br>
            <a:r>
              <a:rPr lang="en-US" sz="3000" b="1" dirty="0">
                <a:solidFill>
                  <a:schemeClr val="bg1"/>
                </a:solidFill>
                <a:cs typeface="Arial" panose="020B0604020202090204"/>
              </a:rPr>
              <a:t>INFO MODEL (LAB)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140084" y="845735"/>
            <a:ext cx="6319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Let’s watch this </a:t>
            </a:r>
            <a:r>
              <a:rPr lang="en-GB" dirty="0" err="1"/>
              <a:t>youtube</a:t>
            </a:r>
            <a:r>
              <a:rPr lang="en-GB" dirty="0"/>
              <a:t> video for basic understandings.</a:t>
            </a:r>
          </a:p>
          <a:p>
            <a:r>
              <a:rPr lang="en-GB" i="1" dirty="0">
                <a:hlinkClick r:id="rId2"/>
              </a:rPr>
              <a:t>https://youtu.be/heIobpUVZqc?si=No0iEweG8M1roWwM</a:t>
            </a:r>
            <a:endParaRPr lang="en-GB" i="1" dirty="0"/>
          </a:p>
        </p:txBody>
      </p:sp>
      <p:pic>
        <p:nvPicPr>
          <p:cNvPr id="6" name="Picture 5" descr="A qr code with a dinosau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134" y="1492066"/>
            <a:ext cx="31813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quadrilateral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3" y="438950"/>
            <a:ext cx="4413757" cy="4166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5" y="85090"/>
            <a:ext cx="59169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grpSp>
        <p:nvGrpSpPr>
          <p:cNvPr id="17" name="Group 16"/>
          <p:cNvGrpSpPr/>
          <p:nvPr/>
        </p:nvGrpSpPr>
        <p:grpSpPr>
          <a:xfrm>
            <a:off x="4668476" y="177518"/>
            <a:ext cx="4012232" cy="4633559"/>
            <a:chOff x="1762866" y="-646885"/>
            <a:chExt cx="5574078" cy="643727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8" name="Speech Bubble: Rectangle 52"/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9" name="Parallelogram 8"/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/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Parallelogram 10"/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Parallelogram 11"/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Speech Bubble: Rectangle 51"/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395" y="85090"/>
            <a:ext cx="59169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C0B196-09CE-6129-9E08-BED42C926A36}"/>
              </a:ext>
            </a:extLst>
          </p:cNvPr>
          <p:cNvGrpSpPr/>
          <p:nvPr/>
        </p:nvGrpSpPr>
        <p:grpSpPr>
          <a:xfrm>
            <a:off x="2420893" y="0"/>
            <a:ext cx="3958402" cy="5245783"/>
            <a:chOff x="3031301" y="-282"/>
            <a:chExt cx="3958402" cy="5245783"/>
          </a:xfrm>
        </p:grpSpPr>
        <p:grpSp>
          <p:nvGrpSpPr>
            <p:cNvPr id="17" name="Group 16"/>
            <p:cNvGrpSpPr/>
            <p:nvPr/>
          </p:nvGrpSpPr>
          <p:grpSpPr>
            <a:xfrm>
              <a:off x="3031301" y="-282"/>
              <a:ext cx="3958402" cy="4633559"/>
              <a:chOff x="1837651" y="-646885"/>
              <a:chExt cx="5499293" cy="6437270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156082"/>
                  </a:clrFrom>
                  <a:clrTo>
                    <a:srgbClr val="15608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1837651" y="3026502"/>
                <a:ext cx="2108697" cy="2312320"/>
              </a:xfrm>
              <a:prstGeom prst="rect">
                <a:avLst/>
              </a:prstGeom>
            </p:spPr>
          </p:pic>
          <p:sp>
            <p:nvSpPr>
              <p:cNvPr id="9" name="Parallelogram 8"/>
              <p:cNvSpPr/>
              <p:nvPr/>
            </p:nvSpPr>
            <p:spPr>
              <a:xfrm rot="16200000">
                <a:off x="2700133" y="702011"/>
                <a:ext cx="5985707" cy="3287915"/>
              </a:xfrm>
              <a:prstGeom prst="parallelogram">
                <a:avLst>
                  <a:gd name="adj" fmla="val 50708"/>
                </a:avLst>
              </a:prstGeom>
              <a:solidFill>
                <a:srgbClr val="4EA72E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0" name="Parallelogram 9"/>
              <p:cNvSpPr/>
              <p:nvPr/>
            </p:nvSpPr>
            <p:spPr>
              <a:xfrm rot="16200000" flipV="1">
                <a:off x="2788887" y="2907242"/>
                <a:ext cx="3480279" cy="2286007"/>
              </a:xfrm>
              <a:prstGeom prst="parallelogram">
                <a:avLst>
                  <a:gd name="adj" fmla="val 57036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1" name="Parallelogram 10"/>
              <p:cNvSpPr/>
              <p:nvPr/>
            </p:nvSpPr>
            <p:spPr>
              <a:xfrm rot="9000000" flipV="1">
                <a:off x="2349326" y="1372596"/>
                <a:ext cx="4486946" cy="3248970"/>
              </a:xfrm>
              <a:prstGeom prst="parallelogram">
                <a:avLst>
                  <a:gd name="adj" fmla="val 58457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2" name="Parallelogram 11"/>
              <p:cNvSpPr/>
              <p:nvPr/>
            </p:nvSpPr>
            <p:spPr>
              <a:xfrm rot="16200000" flipV="1">
                <a:off x="2827948" y="757290"/>
                <a:ext cx="3411685" cy="2276476"/>
              </a:xfrm>
              <a:prstGeom prst="parallelogram">
                <a:avLst>
                  <a:gd name="adj" fmla="val 57036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156082"/>
                  </a:clrFrom>
                  <a:clrTo>
                    <a:srgbClr val="15608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4238408" y="1452876"/>
                <a:ext cx="2108697" cy="2312320"/>
              </a:xfrm>
              <a:prstGeom prst="rect">
                <a:avLst/>
              </a:prstGeom>
            </p:spPr>
          </p:pic>
        </p:grpSp>
        <p:sp>
          <p:nvSpPr>
            <p:cNvPr id="3" name="Parallelogram 2"/>
            <p:cNvSpPr/>
            <p:nvPr/>
          </p:nvSpPr>
          <p:spPr>
            <a:xfrm rot="16200000">
              <a:off x="2060808" y="1907916"/>
              <a:ext cx="4308523" cy="2366648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265575-8288-2C46-4A80-341FE00C22ED}"/>
              </a:ext>
            </a:extLst>
          </p:cNvPr>
          <p:cNvGrpSpPr/>
          <p:nvPr/>
        </p:nvGrpSpPr>
        <p:grpSpPr>
          <a:xfrm>
            <a:off x="6506558" y="93874"/>
            <a:ext cx="2459461" cy="2477876"/>
            <a:chOff x="315408" y="1303370"/>
            <a:chExt cx="2979599" cy="3001908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6769316D-3409-207B-2AE3-FCF8F8CA129C}"/>
                </a:ext>
              </a:extLst>
            </p:cNvPr>
            <p:cNvSpPr/>
            <p:nvPr/>
          </p:nvSpPr>
          <p:spPr>
            <a:xfrm rot="16200000">
              <a:off x="1498475" y="1755625"/>
              <a:ext cx="2043968" cy="1139458"/>
            </a:xfrm>
            <a:prstGeom prst="parallelogram">
              <a:avLst>
                <a:gd name="adj" fmla="val 56363"/>
              </a:avLst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0F87CE91-32EC-CAC6-2E0F-05C016254F0F}"/>
                </a:ext>
              </a:extLst>
            </p:cNvPr>
            <p:cNvSpPr/>
            <p:nvPr/>
          </p:nvSpPr>
          <p:spPr>
            <a:xfrm rot="16200000" flipV="1">
              <a:off x="63147" y="1683781"/>
              <a:ext cx="2267991" cy="1507169"/>
            </a:xfrm>
            <a:prstGeom prst="parallelogram">
              <a:avLst>
                <a:gd name="adj" fmla="val 57036"/>
              </a:avLst>
            </a:prstGeom>
            <a:solidFill>
              <a:srgbClr val="92D05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AC7E2D-3849-A512-3D1A-6504E95C5715}"/>
                </a:ext>
              </a:extLst>
            </p:cNvPr>
            <p:cNvGrpSpPr/>
            <p:nvPr/>
          </p:nvGrpSpPr>
          <p:grpSpPr>
            <a:xfrm>
              <a:off x="315408" y="1388574"/>
              <a:ext cx="2979599" cy="2916704"/>
              <a:chOff x="315408" y="1388574"/>
              <a:chExt cx="2979599" cy="2916704"/>
            </a:xfrm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7E8FCDCB-E77F-AF6B-B403-AFA0E24C21A3}"/>
                  </a:ext>
                </a:extLst>
              </p:cNvPr>
              <p:cNvSpPr/>
              <p:nvPr/>
            </p:nvSpPr>
            <p:spPr>
              <a:xfrm rot="9000000" flipV="1">
                <a:off x="568035" y="2893440"/>
                <a:ext cx="2397677" cy="1140356"/>
              </a:xfrm>
              <a:prstGeom prst="parallelogram">
                <a:avLst>
                  <a:gd name="adj" fmla="val 58457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4027F5-DD62-A23E-B9E0-C505D9BAFCB6}"/>
                  </a:ext>
                </a:extLst>
              </p:cNvPr>
              <p:cNvSpPr txBox="1"/>
              <p:nvPr/>
            </p:nvSpPr>
            <p:spPr>
              <a:xfrm>
                <a:off x="2591140" y="3883891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T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024CDD4-394C-A224-1D5F-E0446755AA4E}"/>
                  </a:ext>
                </a:extLst>
              </p:cNvPr>
              <p:cNvCxnSpPr/>
              <p:nvPr/>
            </p:nvCxnSpPr>
            <p:spPr>
              <a:xfrm flipH="1" flipV="1">
                <a:off x="2205833" y="3540232"/>
                <a:ext cx="412121" cy="363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767E45C-FBCA-EB82-6A34-F081F41EAB70}"/>
                  </a:ext>
                </a:extLst>
              </p:cNvPr>
              <p:cNvSpPr txBox="1"/>
              <p:nvPr/>
            </p:nvSpPr>
            <p:spPr>
              <a:xfrm>
                <a:off x="326101" y="3935946"/>
                <a:ext cx="5202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S1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A5DE176-8CD8-1FEC-6C98-CAB8EC1175D4}"/>
                  </a:ext>
                </a:extLst>
              </p:cNvPr>
              <p:cNvCxnSpPr/>
              <p:nvPr/>
            </p:nvCxnSpPr>
            <p:spPr>
              <a:xfrm>
                <a:off x="1618230" y="1715098"/>
                <a:ext cx="0" cy="546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6F2D0E-4348-2A39-0A59-CB22007BF274}"/>
                  </a:ext>
                </a:extLst>
              </p:cNvPr>
              <p:cNvSpPr txBox="1"/>
              <p:nvPr/>
            </p:nvSpPr>
            <p:spPr>
              <a:xfrm>
                <a:off x="1522717" y="1388574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P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C0C1ABF-9471-F33E-9D94-40447375B37A}"/>
                  </a:ext>
                </a:extLst>
              </p:cNvPr>
              <p:cNvSpPr txBox="1"/>
              <p:nvPr/>
            </p:nvSpPr>
            <p:spPr>
              <a:xfrm>
                <a:off x="2251601" y="2008966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Base</a:t>
                </a:r>
              </a:p>
            </p:txBody>
          </p:sp>
          <p:sp>
            <p:nvSpPr>
              <p:cNvPr id="41" name="Arrow: Curved Right 60">
                <a:extLst>
                  <a:ext uri="{FF2B5EF4-FFF2-40B4-BE49-F238E27FC236}">
                    <a16:creationId xmlns:a16="http://schemas.microsoft.com/office/drawing/2014/main" id="{5954BDB0-8E2B-9B77-5980-921A0CA8469F}"/>
                  </a:ext>
                </a:extLst>
              </p:cNvPr>
              <p:cNvSpPr/>
              <p:nvPr/>
            </p:nvSpPr>
            <p:spPr>
              <a:xfrm rot="16970471">
                <a:off x="1867471" y="1786741"/>
                <a:ext cx="155357" cy="34507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Arrow: Curved Right 61">
                <a:extLst>
                  <a:ext uri="{FF2B5EF4-FFF2-40B4-BE49-F238E27FC236}">
                    <a16:creationId xmlns:a16="http://schemas.microsoft.com/office/drawing/2014/main" id="{B9E731AC-0A7B-A25D-5ACB-3C09B5B97C9B}"/>
                  </a:ext>
                </a:extLst>
              </p:cNvPr>
              <p:cNvSpPr/>
              <p:nvPr/>
            </p:nvSpPr>
            <p:spPr>
              <a:xfrm rot="12042724" flipV="1">
                <a:off x="1327710" y="2912592"/>
                <a:ext cx="194679" cy="347097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31714C-55F5-A9FE-03F4-928335AD5C1D}"/>
                  </a:ext>
                </a:extLst>
              </p:cNvPr>
              <p:cNvSpPr txBox="1"/>
              <p:nvPr/>
            </p:nvSpPr>
            <p:spPr>
              <a:xfrm>
                <a:off x="1682115" y="3059430"/>
                <a:ext cx="113919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Horizontal partition 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985E9E-DB36-590C-DF08-1317E1447E77}"/>
                  </a:ext>
                </a:extLst>
              </p:cNvPr>
              <p:cNvSpPr txBox="1"/>
              <p:nvPr/>
            </p:nvSpPr>
            <p:spPr>
              <a:xfrm>
                <a:off x="1157959" y="2236859"/>
                <a:ext cx="9532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Vertical partition </a:t>
                </a:r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88140ECB-0FE2-917C-25FF-F8743F617CCB}"/>
                  </a:ext>
                </a:extLst>
              </p:cNvPr>
              <p:cNvSpPr/>
              <p:nvPr/>
            </p:nvSpPr>
            <p:spPr>
              <a:xfrm rot="16200000">
                <a:off x="-16092" y="2617228"/>
                <a:ext cx="2043968" cy="1139458"/>
              </a:xfrm>
              <a:prstGeom prst="parallelogram">
                <a:avLst>
                  <a:gd name="adj" fmla="val 56363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E3ECF6-C50E-3F93-CB11-9585A9DEA2DC}"/>
                  </a:ext>
                </a:extLst>
              </p:cNvPr>
              <p:cNvSpPr txBox="1"/>
              <p:nvPr/>
            </p:nvSpPr>
            <p:spPr>
              <a:xfrm>
                <a:off x="1024541" y="3482022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Lid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F7CBD8F-433F-DE99-21B3-169768198B55}"/>
                  </a:ext>
                </a:extLst>
              </p:cNvPr>
              <p:cNvCxnSpPr/>
              <p:nvPr/>
            </p:nvCxnSpPr>
            <p:spPr>
              <a:xfrm flipV="1">
                <a:off x="432351" y="3571361"/>
                <a:ext cx="520227" cy="38045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934B7591-749B-DC79-5C50-FBBB37E01494}"/>
                  </a:ext>
                </a:extLst>
              </p:cNvPr>
              <p:cNvCxnSpPr/>
              <p:nvPr/>
            </p:nvCxnSpPr>
            <p:spPr>
              <a:xfrm flipH="1">
                <a:off x="2432594" y="2276662"/>
                <a:ext cx="407040" cy="34207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1B148C-6BBF-458F-A907-822B6A13C0CA}"/>
                  </a:ext>
                </a:extLst>
              </p:cNvPr>
              <p:cNvSpPr txBox="1"/>
              <p:nvPr/>
            </p:nvSpPr>
            <p:spPr>
              <a:xfrm>
                <a:off x="2849431" y="2034655"/>
                <a:ext cx="445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S2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Arrow: Curved Right 100">
                <a:extLst>
                  <a:ext uri="{FF2B5EF4-FFF2-40B4-BE49-F238E27FC236}">
                    <a16:creationId xmlns:a16="http://schemas.microsoft.com/office/drawing/2014/main" id="{D786AACC-2DDD-D4B8-315A-29B6CED9953D}"/>
                  </a:ext>
                </a:extLst>
              </p:cNvPr>
              <p:cNvSpPr/>
              <p:nvPr/>
            </p:nvSpPr>
            <p:spPr>
              <a:xfrm rot="13634337" flipV="1">
                <a:off x="384214" y="2783169"/>
                <a:ext cx="155357" cy="292970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4533939-60B8-6B3E-D708-F938F3E44222}"/>
              </a:ext>
            </a:extLst>
          </p:cNvPr>
          <p:cNvGrpSpPr/>
          <p:nvPr/>
        </p:nvGrpSpPr>
        <p:grpSpPr>
          <a:xfrm>
            <a:off x="79401" y="2492231"/>
            <a:ext cx="2213324" cy="2372530"/>
            <a:chOff x="98376" y="1124589"/>
            <a:chExt cx="3263662" cy="3498421"/>
          </a:xfrm>
        </p:grpSpPr>
        <p:sp>
          <p:nvSpPr>
            <p:cNvPr id="90" name="Parallelogram 89">
              <a:extLst>
                <a:ext uri="{FF2B5EF4-FFF2-40B4-BE49-F238E27FC236}">
                  <a16:creationId xmlns:a16="http://schemas.microsoft.com/office/drawing/2014/main" id="{6FCFC4FB-E3C9-4933-212C-2E87EF81AE68}"/>
                </a:ext>
              </a:extLst>
            </p:cNvPr>
            <p:cNvSpPr/>
            <p:nvPr/>
          </p:nvSpPr>
          <p:spPr>
            <a:xfrm rot="9000000" flipV="1">
              <a:off x="369481" y="1486622"/>
              <a:ext cx="2573047" cy="1223764"/>
            </a:xfrm>
            <a:prstGeom prst="parallelogram">
              <a:avLst>
                <a:gd name="adj" fmla="val 58457"/>
              </a:avLst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DE6AD9D-0256-5D33-A125-63E0D8F787AF}"/>
                </a:ext>
              </a:extLst>
            </p:cNvPr>
            <p:cNvGrpSpPr/>
            <p:nvPr/>
          </p:nvGrpSpPr>
          <p:grpSpPr>
            <a:xfrm>
              <a:off x="98376" y="1124589"/>
              <a:ext cx="3263662" cy="3498421"/>
              <a:chOff x="98375" y="1099208"/>
              <a:chExt cx="3263662" cy="3498421"/>
            </a:xfrm>
          </p:grpSpPr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DED46A52-1417-6D8C-B824-33AF351EC966}"/>
                  </a:ext>
                </a:extLst>
              </p:cNvPr>
              <p:cNvSpPr/>
              <p:nvPr/>
            </p:nvSpPr>
            <p:spPr>
              <a:xfrm rot="16200000" flipV="1">
                <a:off x="1044313" y="2363057"/>
                <a:ext cx="2433876" cy="1617406"/>
              </a:xfrm>
              <a:prstGeom prst="parallelogram">
                <a:avLst>
                  <a:gd name="adj" fmla="val 57036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2B3B6692-319D-AD4D-2D58-DAA988B1E3BC}"/>
                  </a:ext>
                </a:extLst>
              </p:cNvPr>
              <p:cNvSpPr/>
              <p:nvPr/>
            </p:nvSpPr>
            <p:spPr>
              <a:xfrm rot="16200000">
                <a:off x="-250537" y="2676409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25A6343C-7522-787A-091B-BAC6BD21A959}"/>
                  </a:ext>
                </a:extLst>
              </p:cNvPr>
              <p:cNvSpPr/>
              <p:nvPr/>
            </p:nvSpPr>
            <p:spPr>
              <a:xfrm rot="16200000">
                <a:off x="1367974" y="1758621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chemeClr val="tx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DAF35D8-B290-88CE-315E-A42927E2A818}"/>
                  </a:ext>
                </a:extLst>
              </p:cNvPr>
              <p:cNvSpPr txBox="1"/>
              <p:nvPr/>
            </p:nvSpPr>
            <p:spPr>
              <a:xfrm>
                <a:off x="2540560" y="4042552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T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4712578A-24FD-C42C-25A2-FF521688B80B}"/>
                  </a:ext>
                </a:extLst>
              </p:cNvPr>
              <p:cNvCxnSpPr/>
              <p:nvPr/>
            </p:nvCxnSpPr>
            <p:spPr>
              <a:xfrm flipH="1" flipV="1">
                <a:off x="2127070" y="3673757"/>
                <a:ext cx="442264" cy="3901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13BF5E4-A8AC-125F-989C-D70DC3C0C3BC}"/>
                  </a:ext>
                </a:extLst>
              </p:cNvPr>
              <p:cNvSpPr txBox="1"/>
              <p:nvPr/>
            </p:nvSpPr>
            <p:spPr>
              <a:xfrm>
                <a:off x="109851" y="4098413"/>
                <a:ext cx="663591" cy="4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 dirty="0">
                    <a:solidFill>
                      <a:srgbClr val="FF0000"/>
                    </a:solidFill>
                  </a:rPr>
                  <a:t>S1</a:t>
                </a:r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9A5183AE-0CA5-AB3B-BFF4-B5D5F9A5BE0A}"/>
                  </a:ext>
                </a:extLst>
              </p:cNvPr>
              <p:cNvCxnSpPr/>
              <p:nvPr/>
            </p:nvCxnSpPr>
            <p:spPr>
              <a:xfrm>
                <a:off x="1453300" y="1471539"/>
                <a:ext cx="0" cy="58652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3D0926C-67D9-604F-8090-1C31162D1EE3}"/>
                  </a:ext>
                </a:extLst>
              </p:cNvPr>
              <p:cNvSpPr txBox="1"/>
              <p:nvPr/>
            </p:nvSpPr>
            <p:spPr>
              <a:xfrm>
                <a:off x="1340510" y="1099208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P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EE1006F-0098-C6C0-FB50-C67A80ABD7FD}"/>
                  </a:ext>
                </a:extLst>
              </p:cNvPr>
              <p:cNvSpPr txBox="1"/>
              <p:nvPr/>
            </p:nvSpPr>
            <p:spPr>
              <a:xfrm>
                <a:off x="2176185" y="2030492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Base</a:t>
                </a:r>
              </a:p>
            </p:txBody>
          </p:sp>
          <p:sp>
            <p:nvSpPr>
              <p:cNvPr id="101" name="Arrow: Curved Right 60">
                <a:extLst>
                  <a:ext uri="{FF2B5EF4-FFF2-40B4-BE49-F238E27FC236}">
                    <a16:creationId xmlns:a16="http://schemas.microsoft.com/office/drawing/2014/main" id="{689112FB-96A9-B744-5E57-5E689791F071}"/>
                  </a:ext>
                </a:extLst>
              </p:cNvPr>
              <p:cNvSpPr/>
              <p:nvPr/>
            </p:nvSpPr>
            <p:spPr>
              <a:xfrm rot="16970471">
                <a:off x="1763959" y="1792013"/>
                <a:ext cx="166720" cy="37031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Arrow: Curved Right 61">
                <a:extLst>
                  <a:ext uri="{FF2B5EF4-FFF2-40B4-BE49-F238E27FC236}">
                    <a16:creationId xmlns:a16="http://schemas.microsoft.com/office/drawing/2014/main" id="{16C1BB66-3BE5-659C-9224-9498F9806D51}"/>
                  </a:ext>
                </a:extLst>
              </p:cNvPr>
              <p:cNvSpPr/>
              <p:nvPr/>
            </p:nvSpPr>
            <p:spPr>
              <a:xfrm rot="12042724" flipV="1">
                <a:off x="1184719" y="3000210"/>
                <a:ext cx="208918" cy="372484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882083E-B5C5-ECBF-1A41-42621621F0B7}"/>
                  </a:ext>
                </a:extLst>
              </p:cNvPr>
              <p:cNvSpPr txBox="1"/>
              <p:nvPr/>
            </p:nvSpPr>
            <p:spPr>
              <a:xfrm>
                <a:off x="899747" y="205176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Horizontal partition 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03AD0BD-4601-5BFB-575C-5BF19BD17B27}"/>
                  </a:ext>
                </a:extLst>
              </p:cNvPr>
              <p:cNvSpPr txBox="1"/>
              <p:nvPr/>
            </p:nvSpPr>
            <p:spPr>
              <a:xfrm>
                <a:off x="1664822" y="303429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Vertical partition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3C26E72-B7B5-25F3-C954-52007940DF54}"/>
                  </a:ext>
                </a:extLst>
              </p:cNvPr>
              <p:cNvSpPr txBox="1"/>
              <p:nvPr/>
            </p:nvSpPr>
            <p:spPr>
              <a:xfrm>
                <a:off x="859376" y="3611289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Lid</a:t>
                </a:r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AA5B0A35-AD01-6A50-57F8-46624D0E1DDA}"/>
                  </a:ext>
                </a:extLst>
              </p:cNvPr>
              <p:cNvCxnSpPr/>
              <p:nvPr/>
            </p:nvCxnSpPr>
            <p:spPr>
              <a:xfrm flipV="1">
                <a:off x="223872" y="3707163"/>
                <a:ext cx="558277" cy="40827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3DFC2E09-1A50-2EEB-A3DD-DDF6EF119B5D}"/>
                  </a:ext>
                </a:extLst>
              </p:cNvPr>
              <p:cNvCxnSpPr/>
              <p:nvPr/>
            </p:nvCxnSpPr>
            <p:spPr>
              <a:xfrm flipH="1">
                <a:off x="2370417" y="2317767"/>
                <a:ext cx="436811" cy="36709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C48D5CE-5D05-FBA0-EB3B-4FBF11279C41}"/>
                  </a:ext>
                </a:extLst>
              </p:cNvPr>
              <p:cNvSpPr txBox="1"/>
              <p:nvPr/>
            </p:nvSpPr>
            <p:spPr>
              <a:xfrm>
                <a:off x="2699522" y="2372027"/>
                <a:ext cx="662515" cy="4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 dirty="0">
                    <a:solidFill>
                      <a:srgbClr val="FF0000"/>
                    </a:solidFill>
                  </a:rPr>
                  <a:t>S2</a:t>
                </a:r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Arrow: Curved Right 100">
                <a:extLst>
                  <a:ext uri="{FF2B5EF4-FFF2-40B4-BE49-F238E27FC236}">
                    <a16:creationId xmlns:a16="http://schemas.microsoft.com/office/drawing/2014/main" id="{BE627A71-AAF9-5939-8D0E-CA5C7ABB2AEA}"/>
                  </a:ext>
                </a:extLst>
              </p:cNvPr>
              <p:cNvSpPr/>
              <p:nvPr/>
            </p:nvSpPr>
            <p:spPr>
              <a:xfrm rot="13634337" flipV="1">
                <a:off x="172215" y="2861320"/>
                <a:ext cx="166720" cy="314399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395" y="85090"/>
            <a:ext cx="665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206341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First Angle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1878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Third Angle Projection</a:t>
            </a:r>
          </a:p>
        </p:txBody>
      </p:sp>
      <p:sp>
        <p:nvSpPr>
          <p:cNvPr id="8" name="Parallelogram 7"/>
          <p:cNvSpPr/>
          <p:nvPr/>
        </p:nvSpPr>
        <p:spPr>
          <a:xfrm rot="16200000" flipV="1">
            <a:off x="250546" y="1605818"/>
            <a:ext cx="1866783" cy="955648"/>
          </a:xfrm>
          <a:prstGeom prst="parallelogram">
            <a:avLst>
              <a:gd name="adj" fmla="val 57036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/>
          <p:cNvSpPr/>
          <p:nvPr/>
        </p:nvSpPr>
        <p:spPr>
          <a:xfrm rot="16200000" flipV="1">
            <a:off x="700733" y="1835576"/>
            <a:ext cx="969152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943021" y="2077864"/>
            <a:ext cx="484576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3D Model 10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791" y="2762100"/>
            <a:ext cx="545703" cy="16247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402111" y="2083641"/>
            <a:ext cx="1237429" cy="13569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439001" y="1055413"/>
            <a:ext cx="1237429" cy="1356919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377883" y="1241267"/>
            <a:ext cx="955648" cy="1866783"/>
            <a:chOff x="4750824" y="986995"/>
            <a:chExt cx="955648" cy="1866783"/>
          </a:xfrm>
        </p:grpSpPr>
        <p:sp>
          <p:nvSpPr>
            <p:cNvPr id="12" name="Parallelogram 11"/>
            <p:cNvSpPr/>
            <p:nvPr/>
          </p:nvSpPr>
          <p:spPr>
            <a:xfrm rot="16200000" flipV="1">
              <a:off x="4295256" y="1442563"/>
              <a:ext cx="1866783" cy="955648"/>
            </a:xfrm>
            <a:prstGeom prst="parallelogram">
              <a:avLst>
                <a:gd name="adj" fmla="val 57036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/>
            <p:cNvSpPr/>
            <p:nvPr/>
          </p:nvSpPr>
          <p:spPr>
            <a:xfrm rot="16200000" flipV="1">
              <a:off x="4745443" y="1672321"/>
              <a:ext cx="969152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/>
            <p:cNvSpPr/>
            <p:nvPr/>
          </p:nvSpPr>
          <p:spPr>
            <a:xfrm rot="16200000" flipV="1">
              <a:off x="4987731" y="1914609"/>
              <a:ext cx="484576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 flipH="1" flipV="1">
            <a:off x="2693581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3D Model 19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186" y="2762100"/>
            <a:ext cx="545703" cy="1624707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H="1" flipV="1">
            <a:off x="6426976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4247" y="4434940"/>
            <a:ext cx="42547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b="1" dirty="0">
                <a:solidFill>
                  <a:srgbClr val="FF0000"/>
                </a:solidFill>
              </a:rPr>
              <a:t>behind</a:t>
            </a:r>
            <a:r>
              <a:rPr lang="en-US" dirty="0"/>
              <a:t> the object.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9001" y="4409699"/>
            <a:ext cx="42547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b="1" dirty="0">
                <a:solidFill>
                  <a:srgbClr val="FF0000"/>
                </a:solidFill>
              </a:rPr>
              <a:t>in front of</a:t>
            </a:r>
            <a:r>
              <a:rPr lang="en-US" dirty="0"/>
              <a:t> the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30719" y="95070"/>
            <a:ext cx="42244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  <a:p>
            <a:endParaRPr lang="en-SG" sz="1400" u="sng" dirty="0"/>
          </a:p>
          <a:p>
            <a:r>
              <a:rPr lang="en-SG" sz="1400" dirty="0"/>
              <a:t>T = elevation / front</a:t>
            </a:r>
          </a:p>
          <a:p>
            <a:r>
              <a:rPr lang="en-SG" sz="1400" dirty="0"/>
              <a:t>S = end / side</a:t>
            </a:r>
          </a:p>
          <a:p>
            <a:r>
              <a:rPr lang="en-SG" sz="1400" dirty="0"/>
              <a:t>P = plan / top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3487910" y="2683211"/>
            <a:ext cx="45994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706211" y="1122840"/>
            <a:ext cx="0" cy="291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83655" y="210293"/>
            <a:ext cx="5144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Unfold such that elevation view is adjacent to  / </a:t>
            </a:r>
            <a:r>
              <a:rPr lang="en-SG" sz="1400" dirty="0" err="1"/>
              <a:t>center</a:t>
            </a:r>
            <a:r>
              <a:rPr lang="en-SG" sz="1400" dirty="0"/>
              <a:t> of other views.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First-angle projections are </a:t>
            </a:r>
            <a:r>
              <a:rPr lang="en-SG" sz="1400" dirty="0">
                <a:highlight>
                  <a:srgbClr val="FFFF00"/>
                </a:highlight>
              </a:rPr>
              <a:t>behind</a:t>
            </a:r>
            <a:r>
              <a:rPr lang="en-SG" sz="1400" dirty="0"/>
              <a:t> the object.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3719" y="2403149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Vertical partition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2521" y="1759895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0587" y="3267520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4834168" y="1199208"/>
            <a:ext cx="0" cy="2838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831516" y="1759895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81646" y="1759895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1103" y="2386971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0900" y="242759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6165" y="276034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Horizontal partition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3655" y="4196113"/>
            <a:ext cx="514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C9ABA2-4D7C-965D-E722-8248DE777D55}"/>
              </a:ext>
            </a:extLst>
          </p:cNvPr>
          <p:cNvGrpSpPr/>
          <p:nvPr/>
        </p:nvGrpSpPr>
        <p:grpSpPr>
          <a:xfrm>
            <a:off x="315408" y="1303370"/>
            <a:ext cx="2979599" cy="3001908"/>
            <a:chOff x="315408" y="1303370"/>
            <a:chExt cx="2979599" cy="3001908"/>
          </a:xfrm>
        </p:grpSpPr>
        <p:sp>
          <p:nvSpPr>
            <p:cNvPr id="2" name="Parallelogram 1"/>
            <p:cNvSpPr/>
            <p:nvPr/>
          </p:nvSpPr>
          <p:spPr>
            <a:xfrm rot="16200000">
              <a:off x="1498475" y="1755625"/>
              <a:ext cx="2043968" cy="1139458"/>
            </a:xfrm>
            <a:prstGeom prst="parallelogram">
              <a:avLst>
                <a:gd name="adj" fmla="val 56363"/>
              </a:avLst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5" name="Parallelogram 14"/>
            <p:cNvSpPr/>
            <p:nvPr/>
          </p:nvSpPr>
          <p:spPr>
            <a:xfrm rot="16200000" flipV="1">
              <a:off x="63147" y="1683781"/>
              <a:ext cx="2267991" cy="1507169"/>
            </a:xfrm>
            <a:prstGeom prst="parallelogram">
              <a:avLst>
                <a:gd name="adj" fmla="val 57036"/>
              </a:avLst>
            </a:prstGeom>
            <a:solidFill>
              <a:srgbClr val="92D05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A94704-D847-2D3E-84EC-400B36680F41}"/>
                </a:ext>
              </a:extLst>
            </p:cNvPr>
            <p:cNvGrpSpPr/>
            <p:nvPr/>
          </p:nvGrpSpPr>
          <p:grpSpPr>
            <a:xfrm>
              <a:off x="315408" y="1388574"/>
              <a:ext cx="2979599" cy="2916704"/>
              <a:chOff x="315408" y="1388574"/>
              <a:chExt cx="2979599" cy="2916704"/>
            </a:xfrm>
          </p:grpSpPr>
          <p:sp>
            <p:nvSpPr>
              <p:cNvPr id="5" name="Parallelogram 4"/>
              <p:cNvSpPr/>
              <p:nvPr/>
            </p:nvSpPr>
            <p:spPr>
              <a:xfrm rot="9000000" flipV="1">
                <a:off x="568035" y="2893440"/>
                <a:ext cx="2397677" cy="1140356"/>
              </a:xfrm>
              <a:prstGeom prst="parallelogram">
                <a:avLst>
                  <a:gd name="adj" fmla="val 58457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591140" y="3883891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T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H="1" flipV="1">
                <a:off x="2205833" y="3540232"/>
                <a:ext cx="412121" cy="363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326101" y="3935946"/>
                <a:ext cx="5202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S1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1618230" y="1715098"/>
                <a:ext cx="0" cy="546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1522717" y="1388574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P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251601" y="2008966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Base</a:t>
                </a:r>
              </a:p>
            </p:txBody>
          </p:sp>
          <p:sp>
            <p:nvSpPr>
              <p:cNvPr id="33" name="Arrow: Curved Right 60"/>
              <p:cNvSpPr/>
              <p:nvPr/>
            </p:nvSpPr>
            <p:spPr>
              <a:xfrm rot="16970471">
                <a:off x="1867471" y="1786741"/>
                <a:ext cx="155357" cy="34507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row: Curved Right 61"/>
              <p:cNvSpPr/>
              <p:nvPr/>
            </p:nvSpPr>
            <p:spPr>
              <a:xfrm rot="12042724" flipV="1">
                <a:off x="1327710" y="2912592"/>
                <a:ext cx="194679" cy="347097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682115" y="3059430"/>
                <a:ext cx="113919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Horizontal partition 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157959" y="2236859"/>
                <a:ext cx="9532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Vertical partition </a:t>
                </a:r>
              </a:p>
            </p:txBody>
          </p:sp>
          <p:sp>
            <p:nvSpPr>
              <p:cNvPr id="40" name="Parallelogram 39"/>
              <p:cNvSpPr/>
              <p:nvPr/>
            </p:nvSpPr>
            <p:spPr>
              <a:xfrm rot="16200000">
                <a:off x="-16092" y="2617228"/>
                <a:ext cx="2043968" cy="1139458"/>
              </a:xfrm>
              <a:prstGeom prst="parallelogram">
                <a:avLst>
                  <a:gd name="adj" fmla="val 56363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024541" y="3482022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Lid</a:t>
                </a:r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 flipV="1">
                <a:off x="432351" y="3571361"/>
                <a:ext cx="520227" cy="38045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 flipH="1">
                <a:off x="2432594" y="2276662"/>
                <a:ext cx="407040" cy="34207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2849431" y="2034655"/>
                <a:ext cx="445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S2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Arrow: Curved Right 100"/>
              <p:cNvSpPr/>
              <p:nvPr/>
            </p:nvSpPr>
            <p:spPr>
              <a:xfrm rot="13634337" flipV="1">
                <a:off x="384214" y="2783169"/>
                <a:ext cx="155357" cy="292970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47918" y="462779"/>
            <a:ext cx="1504077" cy="1649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12" name="Parallelogram 11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8743" y="36502"/>
            <a:ext cx="6614727" cy="893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SG" sz="1400" u="sng" dirty="0"/>
              <a:t>Comment: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31" name="Rectangle 30"/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34" name="Rectangle 33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475350" y="2246215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Not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37" name="TextBox 57"/>
          <p:cNvSpPr txBox="1"/>
          <p:nvPr/>
        </p:nvSpPr>
        <p:spPr>
          <a:xfrm>
            <a:off x="2347591" y="425776"/>
            <a:ext cx="260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grpSp>
        <p:nvGrpSpPr>
          <p:cNvPr id="38" name="Group 37"/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40" name="Rectangle 39"/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090910" y="1635485"/>
            <a:ext cx="942441" cy="975652"/>
            <a:chOff x="6943810" y="1965960"/>
            <a:chExt cx="1321228" cy="1367788"/>
          </a:xfrm>
        </p:grpSpPr>
        <p:sp>
          <p:nvSpPr>
            <p:cNvPr id="43" name="Rectangle 42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5" name="TextBox 99"/>
          <p:cNvSpPr txBox="1"/>
          <p:nvPr/>
        </p:nvSpPr>
        <p:spPr>
          <a:xfrm>
            <a:off x="3563470" y="1846312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sp>
        <p:nvSpPr>
          <p:cNvPr id="48" name="TextBox 4"/>
          <p:cNvSpPr txBox="1"/>
          <p:nvPr/>
        </p:nvSpPr>
        <p:spPr>
          <a:xfrm>
            <a:off x="4952144" y="362816"/>
            <a:ext cx="37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The layout stays the same because the object is simply rotated.</a:t>
            </a:r>
            <a:endParaRPr lang="en-GB" sz="1400"/>
          </a:p>
        </p:txBody>
      </p:sp>
      <p:grpSp>
        <p:nvGrpSpPr>
          <p:cNvPr id="49" name="Group 48"/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Parallelogram 11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TextBox 5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arallelogram 42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extBox 1"/>
          <p:cNvSpPr txBox="1"/>
          <p:nvPr/>
        </p:nvSpPr>
        <p:spPr>
          <a:xfrm>
            <a:off x="2389439" y="101952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086690" y="96989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Parallelogram 6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Parallelogram 7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grpSp>
        <p:nvGrpSpPr>
          <p:cNvPr id="21" name="Group 20"/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22" name="Rectangle 21"/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533304" y="1635485"/>
            <a:ext cx="942441" cy="975652"/>
            <a:chOff x="6943810" y="1965960"/>
            <a:chExt cx="1321228" cy="1367788"/>
          </a:xfrm>
        </p:grpSpPr>
        <p:sp>
          <p:nvSpPr>
            <p:cNvPr id="25" name="Rectangle 24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27" name="TextBox 99"/>
          <p:cNvSpPr txBox="1"/>
          <p:nvPr/>
        </p:nvSpPr>
        <p:spPr>
          <a:xfrm>
            <a:off x="7077621" y="1957705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dirty="0"/>
              <a:t>Not required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574392"/>
            <a:ext cx="1505026" cy="164939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Parallelogram 36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/>
          <p:cNvSpPr txBox="1"/>
          <p:nvPr/>
        </p:nvSpPr>
        <p:spPr>
          <a:xfrm>
            <a:off x="2510860" y="303180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2208111" y="298217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5141968" y="176477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586" y="432864"/>
            <a:ext cx="1505026" cy="1649393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27" name="TextBox 99"/>
          <p:cNvSpPr txBox="1"/>
          <p:nvPr/>
        </p:nvSpPr>
        <p:spPr>
          <a:xfrm>
            <a:off x="3589047" y="1968727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4863958" y="160056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0" name="Parallelogram 49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Parallelogram 50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Parallelogram 51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54" name="Parallelogram 53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08626" y="400632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8" name="TextBox 2"/>
          <p:cNvSpPr txBox="1"/>
          <p:nvPr/>
        </p:nvSpPr>
        <p:spPr>
          <a:xfrm>
            <a:off x="183316" y="76537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560112" y="1849633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33471" y="993515"/>
            <a:ext cx="285799" cy="2615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5"/>
          <p:cNvSpPr txBox="1"/>
          <p:nvPr/>
        </p:nvSpPr>
        <p:spPr>
          <a:xfrm>
            <a:off x="174237" y="1937949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T</a:t>
            </a:r>
            <a:endParaRPr lang="en-GB" sz="1600" b="1" dirty="0">
              <a:solidFill>
                <a:srgbClr val="FF0000"/>
              </a:solidFill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87" name="Straight Connector 86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93" name="Rectangle 92"/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96" name="Rectangle 95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385" y="89790"/>
            <a:ext cx="4533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  <a:p>
            <a:endParaRPr lang="en-SG" sz="1200" u="sng" dirty="0"/>
          </a:p>
          <a:p>
            <a:r>
              <a:rPr lang="en-SG" sz="1200" dirty="0"/>
              <a:t>T = elevation / front</a:t>
            </a:r>
          </a:p>
          <a:p>
            <a:r>
              <a:rPr lang="en-SG" sz="1200" dirty="0"/>
              <a:t>S = end / side</a:t>
            </a:r>
          </a:p>
          <a:p>
            <a:r>
              <a:rPr lang="en-SG" sz="1200" dirty="0"/>
              <a:t>P = plan / top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502921" y="2754051"/>
            <a:ext cx="49358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956614" y="1079552"/>
            <a:ext cx="0" cy="312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97724" y="359126"/>
            <a:ext cx="60132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Unfold such that elevation view is adjacent to  / center of other views.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Third-angle projections are </a:t>
            </a:r>
            <a:r>
              <a:rPr lang="en-SG" sz="1400">
                <a:highlight>
                  <a:srgbClr val="FFFF00"/>
                </a:highlight>
              </a:rPr>
              <a:t>in between </a:t>
            </a:r>
            <a:r>
              <a:rPr lang="en-SG" sz="1400"/>
              <a:t>the object and the viewer / </a:t>
            </a:r>
            <a:r>
              <a:rPr lang="en-SG" sz="1400">
                <a:highlight>
                  <a:srgbClr val="FFFF00"/>
                </a:highlight>
              </a:rPr>
              <a:t>in front </a:t>
            </a:r>
            <a:r>
              <a:rPr lang="en-SG" sz="1400"/>
              <a:t>of the object.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4947646" y="1161506"/>
            <a:ext cx="0" cy="3046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10697" y="4138043"/>
            <a:ext cx="5521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Same as first-angle, even the locations of End 1 and End 2.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75783F-CC6C-4245-7011-04D68D7A95CA}"/>
              </a:ext>
            </a:extLst>
          </p:cNvPr>
          <p:cNvGrpSpPr/>
          <p:nvPr/>
        </p:nvGrpSpPr>
        <p:grpSpPr>
          <a:xfrm>
            <a:off x="98376" y="1124589"/>
            <a:ext cx="3100801" cy="3337759"/>
            <a:chOff x="98376" y="1124589"/>
            <a:chExt cx="3100801" cy="3337759"/>
          </a:xfrm>
        </p:grpSpPr>
        <p:sp>
          <p:nvSpPr>
            <p:cNvPr id="4" name="Parallelogram 3"/>
            <p:cNvSpPr/>
            <p:nvPr/>
          </p:nvSpPr>
          <p:spPr>
            <a:xfrm rot="9000000" flipV="1">
              <a:off x="369481" y="1486622"/>
              <a:ext cx="2573047" cy="1223764"/>
            </a:xfrm>
            <a:prstGeom prst="parallelogram">
              <a:avLst>
                <a:gd name="adj" fmla="val 58457"/>
              </a:avLst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EB9D4C-B258-6E0F-2A01-222C69C1732C}"/>
                </a:ext>
              </a:extLst>
            </p:cNvPr>
            <p:cNvGrpSpPr/>
            <p:nvPr/>
          </p:nvGrpSpPr>
          <p:grpSpPr>
            <a:xfrm>
              <a:off x="98376" y="1124589"/>
              <a:ext cx="3100801" cy="3337759"/>
              <a:chOff x="98375" y="1099208"/>
              <a:chExt cx="3100801" cy="3337759"/>
            </a:xfrm>
          </p:grpSpPr>
          <p:sp>
            <p:nvSpPr>
              <p:cNvPr id="2" name="Parallelogram 1"/>
              <p:cNvSpPr/>
              <p:nvPr/>
            </p:nvSpPr>
            <p:spPr>
              <a:xfrm rot="16200000" flipV="1">
                <a:off x="1044313" y="2363057"/>
                <a:ext cx="2433876" cy="1617406"/>
              </a:xfrm>
              <a:prstGeom prst="parallelogram">
                <a:avLst>
                  <a:gd name="adj" fmla="val 57036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" name="Parallelogram 2"/>
              <p:cNvSpPr/>
              <p:nvPr/>
            </p:nvSpPr>
            <p:spPr>
              <a:xfrm rot="16200000">
                <a:off x="-250537" y="2676409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Parallelogram 4"/>
              <p:cNvSpPr/>
              <p:nvPr/>
            </p:nvSpPr>
            <p:spPr>
              <a:xfrm rot="16200000">
                <a:off x="1367974" y="1758621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chemeClr val="tx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540560" y="4042552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T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H="1" flipV="1">
                <a:off x="2127070" y="3673757"/>
                <a:ext cx="442264" cy="3901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109852" y="4098413"/>
                <a:ext cx="5582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S1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1453300" y="1471539"/>
                <a:ext cx="0" cy="58652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1340510" y="1099208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P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176185" y="2030492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Base</a:t>
                </a:r>
              </a:p>
            </p:txBody>
          </p:sp>
          <p:sp>
            <p:nvSpPr>
              <p:cNvPr id="16" name="Arrow: Curved Right 60"/>
              <p:cNvSpPr/>
              <p:nvPr/>
            </p:nvSpPr>
            <p:spPr>
              <a:xfrm rot="16970471">
                <a:off x="1763959" y="1792013"/>
                <a:ext cx="166720" cy="37031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row: Curved Right 61"/>
              <p:cNvSpPr/>
              <p:nvPr/>
            </p:nvSpPr>
            <p:spPr>
              <a:xfrm rot="12042724" flipV="1">
                <a:off x="1184719" y="3000210"/>
                <a:ext cx="208918" cy="372484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99747" y="205176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Horizontal partition 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64822" y="303429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Vertical partition 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59376" y="3611289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Lid</a:t>
                </a:r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 flipV="1">
                <a:off x="223872" y="3707163"/>
                <a:ext cx="558277" cy="40827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flipH="1">
                <a:off x="2370417" y="2317767"/>
                <a:ext cx="436811" cy="36709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699522" y="2372028"/>
                <a:ext cx="4781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S2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Arrow: Curved Right 100"/>
              <p:cNvSpPr/>
              <p:nvPr/>
            </p:nvSpPr>
            <p:spPr>
              <a:xfrm rot="13634337" flipV="1">
                <a:off x="172215" y="2861320"/>
                <a:ext cx="166720" cy="314399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6" name="TextBox 35"/>
          <p:cNvSpPr txBox="1"/>
          <p:nvPr/>
        </p:nvSpPr>
        <p:spPr>
          <a:xfrm>
            <a:off x="5115052" y="2823545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Vertical partition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2769" y="3281653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515" y="1711694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1516" y="3271672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1646" y="3271672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1103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0900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Lid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057" y="240012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Horizontal partition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53190" y="389145"/>
            <a:ext cx="1462740" cy="1603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2067" y="125770"/>
            <a:ext cx="2831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sp>
        <p:nvSpPr>
          <p:cNvPr id="8" name="Parallelogram 7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10" name="Parallelogram 9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7" name="Rectangle 26"/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2" name="Parallelogram 31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457558" y="86899"/>
            <a:ext cx="2831829" cy="51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Remember, projections are in front of the object for the third angle.</a:t>
            </a:r>
            <a:endParaRPr lang="en-GB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7" name="Rectangle 36"/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1" name="Parallelogram 3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2504" y="279360"/>
            <a:ext cx="365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sp>
        <p:nvSpPr>
          <p:cNvPr id="72" name="TextBox 71"/>
          <p:cNvSpPr txBox="1"/>
          <p:nvPr/>
        </p:nvSpPr>
        <p:spPr>
          <a:xfrm>
            <a:off x="5362648" y="191095"/>
            <a:ext cx="3333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layout stays the same because the object is simply rotated.</a:t>
            </a:r>
            <a:endParaRPr lang="en-GB" sz="14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3606839" y="3300891"/>
            <a:ext cx="1049106" cy="1086076"/>
            <a:chOff x="6943810" y="1965960"/>
            <a:chExt cx="1321228" cy="1367788"/>
          </a:xfrm>
        </p:grpSpPr>
        <p:sp>
          <p:nvSpPr>
            <p:cNvPr id="74" name="Rectangle 73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44524" y="3091896"/>
              <a:ext cx="1320514" cy="2418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" name="Group 75"/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83" name="Rectangle 82"/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21985" y="771050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118079" y="831635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3354" y="3858296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Not required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21" name="Parallelogram 2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grpSp>
        <p:nvGrpSpPr>
          <p:cNvPr id="30" name="Group 29"/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37" name="Rectangle 36"/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315769" y="1327032"/>
            <a:ext cx="1854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4099305" y="190434"/>
            <a:ext cx="4660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Third-angle projections are in front of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2654739" y="2556624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2250833" y="2617209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7307496" y="3265952"/>
            <a:ext cx="942441" cy="1101961"/>
            <a:chOff x="6943810" y="1788885"/>
            <a:chExt cx="1321228" cy="1544863"/>
          </a:xfrm>
        </p:grpSpPr>
        <p:sp>
          <p:nvSpPr>
            <p:cNvPr id="45" name="Rectangle 44"/>
            <p:cNvSpPr/>
            <p:nvPr/>
          </p:nvSpPr>
          <p:spPr>
            <a:xfrm>
              <a:off x="6943810" y="1788885"/>
              <a:ext cx="1321227" cy="15448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893" y="479480"/>
            <a:ext cx="1492523" cy="1635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411" y="55900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700150" y="1872240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9" name="Parallelogram 8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6" name="Rectangle 25"/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83526" y="829335"/>
            <a:ext cx="329218" cy="28898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9833" y="203791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T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1" name="Parallelogram 3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6" name="Rectangle 35"/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0545" y="624064"/>
            <a:ext cx="2701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elevation view of the question has changed.</a:t>
            </a:r>
            <a:endParaRPr lang="en-GB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4643052" y="261078"/>
            <a:ext cx="4660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The final drawings are the same as Variation 1.</a:t>
            </a:r>
            <a:endParaRPr lang="en-GB" sz="1400"/>
          </a:p>
        </p:txBody>
      </p:sp>
      <p:sp>
        <p:nvSpPr>
          <p:cNvPr id="45" name="TextBox 4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17634" y="835119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altLang="zh-CN" dirty="0"/>
              <a:t>irst Quadrant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83048" y="835119"/>
            <a:ext cx="7012825" cy="74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below elevation</a:t>
            </a: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at the back of 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7634" y="184635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altLang="zh-CN" dirty="0"/>
              <a:t>hird Quadrant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83048" y="1706272"/>
            <a:ext cx="70128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above elevation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in front of the object plane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7634" y="2685195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3046" y="2685195"/>
            <a:ext cx="701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Elevation View (first to draw)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636" y="324252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3048" y="3242521"/>
            <a:ext cx="445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of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166" y="3851124"/>
            <a:ext cx="8129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from Horizontal &amp; Vertical Plan must be equal </a:t>
            </a:r>
            <a:r>
              <a:rPr lang="en-US" dirty="0">
                <a:solidFill>
                  <a:srgbClr val="FF0000"/>
                </a:solidFill>
              </a:rPr>
              <a:t>for projecting points, lines &amp;surface measurements</a:t>
            </a:r>
            <a:r>
              <a:rPr lang="en-US" dirty="0"/>
              <a:t> from one view to another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166" y="4493024"/>
            <a:ext cx="550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https://www.youtube.com/watch?v=heIobpUVZqc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BB14-3040-1EE3-22D7-BAABECBF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44BD90-21C7-72BC-330F-BD9969AEC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81" y="691661"/>
            <a:ext cx="3949037" cy="4055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5650FF-466B-93CD-EA5F-418EDC2BA2E1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63889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78ED72-6AB0-C9FD-E8F2-DA516DC3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57" b="26251"/>
          <a:stretch>
            <a:fillRect/>
          </a:stretch>
        </p:blipFill>
        <p:spPr>
          <a:xfrm>
            <a:off x="6727790" y="810296"/>
            <a:ext cx="2372530" cy="3049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E9A133-4B19-3FFA-927C-8D5E691E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6" b="16777"/>
          <a:stretch>
            <a:fillRect/>
          </a:stretch>
        </p:blipFill>
        <p:spPr>
          <a:xfrm>
            <a:off x="4194689" y="810296"/>
            <a:ext cx="2372530" cy="3537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320790" y="2461846"/>
            <a:ext cx="2130251" cy="276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584221" y="2008719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797530" y="1708220"/>
            <a:ext cx="150527" cy="302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QR Code Image">
            <a:extLst>
              <a:ext uri="{FF2B5EF4-FFF2-40B4-BE49-F238E27FC236}">
                <a16:creationId xmlns:a16="http://schemas.microsoft.com/office/drawing/2014/main" id="{FB950885-3997-1140-D6CE-2D36C1F00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0296"/>
            <a:ext cx="3869873" cy="38698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81339" y="1085516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63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contentTypeID="0x010100E28E816AC679FF4C86C22834E825BD05" ma:_="" ma:contentTypeName="Document" ma:contentTypeVersion="1" ma:versionID="066e42d507d75a122d0db91dd470f30a" ma:contentTypeDescription="Create a new document." ma:contentTypeScope="">
  <xsd:schema xmlns:ns1="http://schemas.microsoft.com/sharepoint/v3" xmlns:xsd="http://www.w3.org/2001/XMLSchema" xmlns:xs="http://www.w3.org/2001/XMLSchema" xmlns:p="http://schemas.microsoft.com/office/2006/metadata/properties" ma:root="true" ns1:_="" targetNamespace="http://schemas.microsoft.com/office/2006/metadata/properties" ma:fieldsID="48c5b5cd9b8d25ff6dd15848836f4270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index="8" ma:hidden="true" ma:displayName="Scheduling Start Date" ma:internalName="PublishingStartDate" ma:description="Scheduling Start Date is a site column created by the Publishing feature. It is used to specify the date and time on which this page will first appear to site visitors." nillable="true" name="PublishingStartDate">
      <xsd:simpleType>
        <xsd:restriction base="dms:Unknown"/>
      </xsd:simpleType>
    </xsd:element>
    <xsd:element ma:index="9" ma:hidden="true" ma:displayName="Scheduling End Date" ma:internalName="PublishingExpirationDate" ma:description="Scheduling End Date is a site column created by the Publishing feature. It is used to specify the date and time on which this page will no longer appear to site visitors." nillable="true" name="PublishingExpirationDate">
      <xsd:simpleType>
        <xsd:restriction base="dms:Unknown"/>
      </xsd:simpleType>
    </xsd:element>
  </xsd:schema>
  <xsd:schema xmlns:dcterms="http://purl.org/dc/terms/" xmlns:dc="http://purl.org/dc/elements/1.1/" xmlns:odoc="http://schemas.microsoft.com/internal/obd" xmlns:xsd="http://www.w3.org/2001/XMLSchema" xmlns:xsi="http://www.w3.org/2001/XMLSchema-instance" xmlns="http://schemas.openxmlformats.org/package/2006/metadata/core-properties" elementFormDefault="qualified" attributeFormDefault="unqualified" targetNamespace="http://schemas.openxmlformats.org/package/2006/metadata/core-properties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index="0" ma:displayName="Content Type" type="xsd:string" maxOccurs="1" minOccurs="0" name="contentType"/>
        <xsd:element ma:index="4" ma:displayName="Title" ref="dc:title" maxOccurs="1" minOccurs="0"/>
        <xsd:element ref="dc:subject" maxOccurs="1" minOccurs="0"/>
        <xsd:element ref="dc:description" maxOccurs="1" minOccurs="0"/>
        <xsd:element type="xsd:string" maxOccurs="1" minOccurs="0" name="keywords"/>
        <xsd:element ref="dc:language" maxOccurs="1" minOccurs="0"/>
        <xsd:element type="xsd:string" maxOccurs="1" minOccurs="0" name="category"/>
        <xsd:element type="xsd:string" maxOccurs="1" minOccurs="0" name="version"/>
        <xsd:element type="xsd:string" maxOccurs="1" minOccurs="0" name="revision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axOccurs="1" minOccurs="0" name="lastModifiedBy"/>
        <xsd:element ref="dcterms:modified" maxOccurs="1" minOccurs="0"/>
        <xsd:element type="xsd:string" maxOccurs="1" minOccurs="0" name="contentStatus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Props1.xml><?xml version="1.0" encoding="utf-8"?>
<ds:datastoreItem xmlns:ds="http://schemas.openxmlformats.org/officeDocument/2006/customXml" ds:itemID="{264D3FE7-A0C8-4453-A806-BCAD6F53B901}">
  <ds:schemaRefs/>
</ds:datastoreItem>
</file>

<file path=customXml/itemProps2.xml><?xml version="1.0" encoding="utf-8"?>
<ds:datastoreItem xmlns:ds="http://schemas.openxmlformats.org/officeDocument/2006/customXml" ds:itemID="{6CCB8030-6F99-446F-BD3B-E5E3F435F1FD}">
  <ds:schemaRefs/>
</ds:datastoreItem>
</file>

<file path=customXml/itemProps3.xml><?xml version="1.0" encoding="utf-8"?>
<ds:datastoreItem xmlns:ds="http://schemas.openxmlformats.org/officeDocument/2006/customXml" ds:itemID="{AFA540F8-4ACB-4DC8-920F-A3CE5A42B988}">
  <ds:schemaRefs/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746</Words>
  <Application>Microsoft Office PowerPoint</Application>
  <PresentationFormat>全屏显示(16:9)</PresentationFormat>
  <Paragraphs>216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CV1711 ENGINEERING DRAWING &amp; 3D BUILD  INFO MODEL (LAB)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#JIANG SHUO#</cp:lastModifiedBy>
  <cp:revision>35</cp:revision>
  <dcterms:created xsi:type="dcterms:W3CDTF">2026-01-30T01:04:09Z</dcterms:created>
  <dcterms:modified xsi:type="dcterms:W3CDTF">2026-08-17T05:07:11Z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  <property fmtid="{D5CDD505-2E9C-101B-9397-08002B2CF9AE}" pid="3" name="ICV">
    <vt:lpwstr>D06F3063DBEB4E4B89037C69EEA92AB1_42</vt:lpwstr>
  </property>
  <property fmtid="{D5CDD505-2E9C-101B-9397-08002B2CF9AE}" pid="4" name="KSOProductBuildVer">
    <vt:lpwstr>1033-12.1.23540.23540</vt:lpwstr>
  </property>
</Properties>
</file>