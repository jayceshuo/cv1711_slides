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4"/>
  </p:handoutMasterIdLst>
  <p:sldIdLst>
    <p:sldId id="259" r:id="rId5"/>
    <p:sldId id="257" r:id="rId6"/>
    <p:sldId id="263" r:id="rId7"/>
    <p:sldId id="264" r:id="rId8"/>
    <p:sldId id="265" r:id="rId9"/>
    <p:sldId id="267" r:id="rId10"/>
    <p:sldId id="268" r:id="rId11"/>
    <p:sldId id="260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AED5A2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1D428-5C4E-438D-A0FF-4C4C5614339A}" v="7" dt="2026-08-17T04:55:17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2" autoAdjust="0"/>
    <p:restoredTop sz="94765"/>
  </p:normalViewPr>
  <p:slideViewPr>
    <p:cSldViewPr snapToGrid="0" snapToObjects="1">
      <p:cViewPr varScale="1">
        <p:scale>
          <a:sx n="152" d="100"/>
          <a:sy n="152" d="100"/>
        </p:scale>
        <p:origin x="514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IANG SHUO#" userId="fb4bb6a7-b10d-4e4a-bf68-a269bc875e77" providerId="ADAL" clId="{FCFA541B-5210-44D5-866D-E58C6E9566A6}"/>
    <pc:docChg chg="undo custSel delSld modSld">
      <pc:chgData name="#JIANG SHUO#" userId="fb4bb6a7-b10d-4e4a-bf68-a269bc875e77" providerId="ADAL" clId="{FCFA541B-5210-44D5-866D-E58C6E9566A6}" dt="2026-08-17T05:02:10.857" v="137" actId="14100"/>
      <pc:docMkLst>
        <pc:docMk/>
      </pc:docMkLst>
      <pc:sldChg chg="addSp delSp modSp mod">
        <pc:chgData name="#JIANG SHUO#" userId="fb4bb6a7-b10d-4e4a-bf68-a269bc875e77" providerId="ADAL" clId="{FCFA541B-5210-44D5-866D-E58C6E9566A6}" dt="2026-08-17T04:55:23.897" v="98" actId="20577"/>
        <pc:sldMkLst>
          <pc:docMk/>
          <pc:sldMk cId="3080595037" sldId="257"/>
        </pc:sldMkLst>
        <pc:spChg chg="add mod">
          <ac:chgData name="#JIANG SHUO#" userId="fb4bb6a7-b10d-4e4a-bf68-a269bc875e77" providerId="ADAL" clId="{FCFA541B-5210-44D5-866D-E58C6E9566A6}" dt="2026-08-17T04:54:58.628" v="80" actId="554"/>
          <ac:spMkLst>
            <pc:docMk/>
            <pc:sldMk cId="3080595037" sldId="257"/>
            <ac:spMk id="12" creationId="{511F76AD-029F-2C2A-0020-93480B20BDDD}"/>
          </ac:spMkLst>
        </pc:spChg>
        <pc:spChg chg="mod">
          <ac:chgData name="#JIANG SHUO#" userId="fb4bb6a7-b10d-4e4a-bf68-a269bc875e77" providerId="ADAL" clId="{FCFA541B-5210-44D5-866D-E58C6E9566A6}" dt="2026-08-17T04:52:10.163" v="31" actId="164"/>
          <ac:spMkLst>
            <pc:docMk/>
            <pc:sldMk cId="3080595037" sldId="257"/>
            <ac:spMk id="15" creationId="{2E0CF8B3-5715-D3C4-6F09-3CF5D99E57A7}"/>
          </ac:spMkLst>
        </pc:spChg>
        <pc:spChg chg="mod">
          <ac:chgData name="#JIANG SHUO#" userId="fb4bb6a7-b10d-4e4a-bf68-a269bc875e77" providerId="ADAL" clId="{FCFA541B-5210-44D5-866D-E58C6E9566A6}" dt="2026-08-17T04:53:08.482" v="46" actId="1076"/>
          <ac:spMkLst>
            <pc:docMk/>
            <pc:sldMk cId="3080595037" sldId="257"/>
            <ac:spMk id="18" creationId="{C7807775-BBEA-96DA-8E01-8F110858BE17}"/>
          </ac:spMkLst>
        </pc:spChg>
        <pc:spChg chg="mod">
          <ac:chgData name="#JIANG SHUO#" userId="fb4bb6a7-b10d-4e4a-bf68-a269bc875e77" providerId="ADAL" clId="{FCFA541B-5210-44D5-866D-E58C6E9566A6}" dt="2026-08-17T04:52:24.535" v="36" actId="1076"/>
          <ac:spMkLst>
            <pc:docMk/>
            <pc:sldMk cId="3080595037" sldId="257"/>
            <ac:spMk id="19" creationId="{2F38DBDD-51DC-C560-BA56-E9AB49D4899D}"/>
          </ac:spMkLst>
        </pc:spChg>
        <pc:spChg chg="del">
          <ac:chgData name="#JIANG SHUO#" userId="fb4bb6a7-b10d-4e4a-bf68-a269bc875e77" providerId="ADAL" clId="{FCFA541B-5210-44D5-866D-E58C6E9566A6}" dt="2026-08-17T04:51:10.966" v="14" actId="478"/>
          <ac:spMkLst>
            <pc:docMk/>
            <pc:sldMk cId="3080595037" sldId="257"/>
            <ac:spMk id="20" creationId="{8862D768-30AA-DF88-8BD4-06058748A30B}"/>
          </ac:spMkLst>
        </pc:spChg>
        <pc:spChg chg="add mod">
          <ac:chgData name="#JIANG SHUO#" userId="fb4bb6a7-b10d-4e4a-bf68-a269bc875e77" providerId="ADAL" clId="{FCFA541B-5210-44D5-866D-E58C6E9566A6}" dt="2026-08-17T04:55:23.897" v="98" actId="20577"/>
          <ac:spMkLst>
            <pc:docMk/>
            <pc:sldMk cId="3080595037" sldId="257"/>
            <ac:spMk id="21" creationId="{BBF77F4A-2780-3482-C136-9C36362413E0}"/>
          </ac:spMkLst>
        </pc:spChg>
        <pc:grpChg chg="add mod">
          <ac:chgData name="#JIANG SHUO#" userId="fb4bb6a7-b10d-4e4a-bf68-a269bc875e77" providerId="ADAL" clId="{FCFA541B-5210-44D5-866D-E58C6E9566A6}" dt="2026-08-17T04:52:11.968" v="32" actId="12788"/>
          <ac:grpSpMkLst>
            <pc:docMk/>
            <pc:sldMk cId="3080595037" sldId="257"/>
            <ac:grpSpMk id="5" creationId="{98185946-F4CA-1161-6199-376E74585ED4}"/>
          </ac:grpSpMkLst>
        </pc:grpChg>
        <pc:picChg chg="add del mod">
          <ac:chgData name="#JIANG SHUO#" userId="fb4bb6a7-b10d-4e4a-bf68-a269bc875e77" providerId="ADAL" clId="{FCFA541B-5210-44D5-866D-E58C6E9566A6}" dt="2026-08-17T04:50:42.312" v="3" actId="478"/>
          <ac:picMkLst>
            <pc:docMk/>
            <pc:sldMk cId="3080595037" sldId="257"/>
            <ac:picMk id="3" creationId="{0D778998-8783-6D74-AC94-7506BA52751B}"/>
          </ac:picMkLst>
        </pc:picChg>
        <pc:picChg chg="add mod">
          <ac:chgData name="#JIANG SHUO#" userId="fb4bb6a7-b10d-4e4a-bf68-a269bc875e77" providerId="ADAL" clId="{FCFA541B-5210-44D5-866D-E58C6E9566A6}" dt="2026-08-17T04:52:10.163" v="31" actId="164"/>
          <ac:picMkLst>
            <pc:docMk/>
            <pc:sldMk cId="3080595037" sldId="257"/>
            <ac:picMk id="4" creationId="{9D55B52C-05A0-D480-966E-2476D0722D4B}"/>
          </ac:picMkLst>
        </pc:picChg>
        <pc:picChg chg="del">
          <ac:chgData name="#JIANG SHUO#" userId="fb4bb6a7-b10d-4e4a-bf68-a269bc875e77" providerId="ADAL" clId="{FCFA541B-5210-44D5-866D-E58C6E9566A6}" dt="2026-08-17T04:50:50.093" v="6" actId="478"/>
          <ac:picMkLst>
            <pc:docMk/>
            <pc:sldMk cId="3080595037" sldId="257"/>
            <ac:picMk id="7" creationId="{7588EF94-AAC5-1CFE-F20E-AA65A364182E}"/>
          </ac:picMkLst>
        </pc:picChg>
        <pc:picChg chg="add mod">
          <ac:chgData name="#JIANG SHUO#" userId="fb4bb6a7-b10d-4e4a-bf68-a269bc875e77" providerId="ADAL" clId="{FCFA541B-5210-44D5-866D-E58C6E9566A6}" dt="2026-08-17T04:53:31.026" v="49" actId="1076"/>
          <ac:picMkLst>
            <pc:docMk/>
            <pc:sldMk cId="3080595037" sldId="257"/>
            <ac:picMk id="8" creationId="{26EA3340-894C-B485-408E-E225B1DD9006}"/>
          </ac:picMkLst>
        </pc:picChg>
        <pc:picChg chg="mod">
          <ac:chgData name="#JIANG SHUO#" userId="fb4bb6a7-b10d-4e4a-bf68-a269bc875e77" providerId="ADAL" clId="{FCFA541B-5210-44D5-866D-E58C6E9566A6}" dt="2026-08-17T04:52:58.821" v="44" actId="554"/>
          <ac:picMkLst>
            <pc:docMk/>
            <pc:sldMk cId="3080595037" sldId="257"/>
            <ac:picMk id="9" creationId="{BE5B02EF-9788-D660-C106-A23309EE681D}"/>
          </ac:picMkLst>
        </pc:picChg>
        <pc:picChg chg="mod">
          <ac:chgData name="#JIANG SHUO#" userId="fb4bb6a7-b10d-4e4a-bf68-a269bc875e77" providerId="ADAL" clId="{FCFA541B-5210-44D5-866D-E58C6E9566A6}" dt="2026-08-17T04:52:58.821" v="44" actId="554"/>
          <ac:picMkLst>
            <pc:docMk/>
            <pc:sldMk cId="3080595037" sldId="257"/>
            <ac:picMk id="11" creationId="{F96A8D50-22A3-48FD-13E7-5BCFFA73C501}"/>
          </ac:picMkLst>
        </pc:picChg>
        <pc:picChg chg="del">
          <ac:chgData name="#JIANG SHUO#" userId="fb4bb6a7-b10d-4e4a-bf68-a269bc875e77" providerId="ADAL" clId="{FCFA541B-5210-44D5-866D-E58C6E9566A6}" dt="2026-08-17T04:51:13.984" v="17" actId="478"/>
          <ac:picMkLst>
            <pc:docMk/>
            <pc:sldMk cId="3080595037" sldId="257"/>
            <ac:picMk id="13" creationId="{7705B83D-B00F-F4F4-5BB2-077EB0431EFE}"/>
          </ac:picMkLst>
        </pc:picChg>
        <pc:picChg chg="add mod">
          <ac:chgData name="#JIANG SHUO#" userId="fb4bb6a7-b10d-4e4a-bf68-a269bc875e77" providerId="ADAL" clId="{FCFA541B-5210-44D5-866D-E58C6E9566A6}" dt="2026-08-17T04:54:36.965" v="76" actId="1076"/>
          <ac:picMkLst>
            <pc:docMk/>
            <pc:sldMk cId="3080595037" sldId="257"/>
            <ac:picMk id="16" creationId="{8F7B0A0C-5E55-05AB-701B-A21FB4630B10}"/>
          </ac:picMkLst>
        </pc:picChg>
      </pc:sldChg>
      <pc:sldChg chg="del">
        <pc:chgData name="#JIANG SHUO#" userId="fb4bb6a7-b10d-4e4a-bf68-a269bc875e77" providerId="ADAL" clId="{FCFA541B-5210-44D5-866D-E58C6E9566A6}" dt="2026-08-17T04:55:33.612" v="99" actId="47"/>
        <pc:sldMkLst>
          <pc:docMk/>
          <pc:sldMk cId="2142808599" sldId="262"/>
        </pc:sldMkLst>
      </pc:sldChg>
      <pc:sldChg chg="addSp delSp modSp mod">
        <pc:chgData name="#JIANG SHUO#" userId="fb4bb6a7-b10d-4e4a-bf68-a269bc875e77" providerId="ADAL" clId="{FCFA541B-5210-44D5-866D-E58C6E9566A6}" dt="2026-08-17T05:02:10.857" v="137" actId="14100"/>
        <pc:sldMkLst>
          <pc:docMk/>
          <pc:sldMk cId="987049720" sldId="269"/>
        </pc:sldMkLst>
        <pc:spChg chg="mod">
          <ac:chgData name="#JIANG SHUO#" userId="fb4bb6a7-b10d-4e4a-bf68-a269bc875e77" providerId="ADAL" clId="{FCFA541B-5210-44D5-866D-E58C6E9566A6}" dt="2026-08-17T05:00:56.510" v="119" actId="14100"/>
          <ac:spMkLst>
            <pc:docMk/>
            <pc:sldMk cId="987049720" sldId="269"/>
            <ac:spMk id="16" creationId="{7E0F29FD-C5C8-23F9-EA3F-D17CCFB0B60B}"/>
          </ac:spMkLst>
        </pc:spChg>
        <pc:spChg chg="mod">
          <ac:chgData name="#JIANG SHUO#" userId="fb4bb6a7-b10d-4e4a-bf68-a269bc875e77" providerId="ADAL" clId="{FCFA541B-5210-44D5-866D-E58C6E9566A6}" dt="2026-08-17T05:02:07.587" v="136" actId="1076"/>
          <ac:spMkLst>
            <pc:docMk/>
            <pc:sldMk cId="987049720" sldId="269"/>
            <ac:spMk id="19" creationId="{9B088EBD-1777-E072-C48A-7B3EB1AD8169}"/>
          </ac:spMkLst>
        </pc:spChg>
        <pc:picChg chg="add mod">
          <ac:chgData name="#JIANG SHUO#" userId="fb4bb6a7-b10d-4e4a-bf68-a269bc875e77" providerId="ADAL" clId="{FCFA541B-5210-44D5-866D-E58C6E9566A6}" dt="2026-08-17T04:57:01.332" v="105" actId="1076"/>
          <ac:picMkLst>
            <pc:docMk/>
            <pc:sldMk cId="987049720" sldId="269"/>
            <ac:picMk id="3" creationId="{FB950885-3997-1140-D6CE-2D36C1F00832}"/>
          </ac:picMkLst>
        </pc:picChg>
        <pc:picChg chg="del">
          <ac:chgData name="#JIANG SHUO#" userId="fb4bb6a7-b10d-4e4a-bf68-a269bc875e77" providerId="ADAL" clId="{FCFA541B-5210-44D5-866D-E58C6E9566A6}" dt="2026-08-17T04:56:48.700" v="100" actId="478"/>
          <ac:picMkLst>
            <pc:docMk/>
            <pc:sldMk cId="987049720" sldId="269"/>
            <ac:picMk id="4" creationId="{D8A208E8-88EE-0401-B957-FAFE5152721F}"/>
          </ac:picMkLst>
        </pc:picChg>
        <pc:picChg chg="add mod ord modCrop">
          <ac:chgData name="#JIANG SHUO#" userId="fb4bb6a7-b10d-4e4a-bf68-a269bc875e77" providerId="ADAL" clId="{FCFA541B-5210-44D5-866D-E58C6E9566A6}" dt="2026-08-17T05:00:48.984" v="115" actId="1076"/>
          <ac:picMkLst>
            <pc:docMk/>
            <pc:sldMk cId="987049720" sldId="269"/>
            <ac:picMk id="6" creationId="{9BE9A133-4B19-3FFA-927C-8D5E691E1605}"/>
          </ac:picMkLst>
        </pc:picChg>
        <pc:picChg chg="add mod ord modCrop">
          <ac:chgData name="#JIANG SHUO#" userId="fb4bb6a7-b10d-4e4a-bf68-a269bc875e77" providerId="ADAL" clId="{FCFA541B-5210-44D5-866D-E58C6E9566A6}" dt="2026-08-17T05:01:35.332" v="132" actId="1076"/>
          <ac:picMkLst>
            <pc:docMk/>
            <pc:sldMk cId="987049720" sldId="269"/>
            <ac:picMk id="8" creationId="{F878ED72-6AB0-C9FD-E8F2-DA516DC3B385}"/>
          </ac:picMkLst>
        </pc:picChg>
        <pc:picChg chg="del">
          <ac:chgData name="#JIANG SHUO#" userId="fb4bb6a7-b10d-4e4a-bf68-a269bc875e77" providerId="ADAL" clId="{FCFA541B-5210-44D5-866D-E58C6E9566A6}" dt="2026-08-17T05:00:33.305" v="110" actId="478"/>
          <ac:picMkLst>
            <pc:docMk/>
            <pc:sldMk cId="987049720" sldId="269"/>
            <ac:picMk id="9" creationId="{FAB10BA0-EBCE-1EED-CBA4-2E5185D4F429}"/>
          </ac:picMkLst>
        </pc:picChg>
        <pc:picChg chg="del">
          <ac:chgData name="#JIANG SHUO#" userId="fb4bb6a7-b10d-4e4a-bf68-a269bc875e77" providerId="ADAL" clId="{FCFA541B-5210-44D5-866D-E58C6E9566A6}" dt="2026-08-17T05:01:00.961" v="121" actId="478"/>
          <ac:picMkLst>
            <pc:docMk/>
            <pc:sldMk cId="987049720" sldId="269"/>
            <ac:picMk id="11" creationId="{95E12AC2-DC1D-74EF-82B9-EB78F1266F7F}"/>
          </ac:picMkLst>
        </pc:picChg>
        <pc:cxnChg chg="mod ord">
          <ac:chgData name="#JIANG SHUO#" userId="fb4bb6a7-b10d-4e4a-bf68-a269bc875e77" providerId="ADAL" clId="{FCFA541B-5210-44D5-866D-E58C6E9566A6}" dt="2026-08-17T05:00:58.446" v="120" actId="1076"/>
          <ac:cxnSpMkLst>
            <pc:docMk/>
            <pc:sldMk cId="987049720" sldId="269"/>
            <ac:cxnSpMk id="12" creationId="{3A1266E3-78EA-F711-3D66-742DA96A4E23}"/>
          </ac:cxnSpMkLst>
        </pc:cxnChg>
        <pc:cxnChg chg="del mod">
          <ac:chgData name="#JIANG SHUO#" userId="fb4bb6a7-b10d-4e4a-bf68-a269bc875e77" providerId="ADAL" clId="{FCFA541B-5210-44D5-866D-E58C6E9566A6}" dt="2026-08-17T05:01:57.768" v="134" actId="478"/>
          <ac:cxnSpMkLst>
            <pc:docMk/>
            <pc:sldMk cId="987049720" sldId="269"/>
            <ac:cxnSpMk id="17" creationId="{6CD26AAB-4A93-9ECB-14BE-61E6F44E5164}"/>
          </ac:cxnSpMkLst>
        </pc:cxnChg>
        <pc:cxnChg chg="mod">
          <ac:chgData name="#JIANG SHUO#" userId="fb4bb6a7-b10d-4e4a-bf68-a269bc875e77" providerId="ADAL" clId="{FCFA541B-5210-44D5-866D-E58C6E9566A6}" dt="2026-08-17T05:02:10.857" v="137" actId="14100"/>
          <ac:cxnSpMkLst>
            <pc:docMk/>
            <pc:sldMk cId="987049720" sldId="269"/>
            <ac:cxnSpMk id="21" creationId="{F3545CA8-659F-6416-28CF-C6D29B01723D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8/17/2026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303" y="1189841"/>
            <a:ext cx="5336535" cy="148117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cs typeface="Arial"/>
              </a:rPr>
              <a:t>CV1711 ENGINEERING DRAWING &amp; 3D BUILD </a:t>
            </a:r>
            <a:br>
              <a:rPr lang="en-US" sz="3000" b="1" dirty="0">
                <a:solidFill>
                  <a:schemeClr val="bg1"/>
                </a:solidFill>
                <a:cs typeface="Arial"/>
              </a:rPr>
            </a:br>
            <a:r>
              <a:rPr lang="en-US" sz="3000" b="1" dirty="0">
                <a:solidFill>
                  <a:schemeClr val="bg1"/>
                </a:solidFill>
                <a:cs typeface="Arial"/>
              </a:rPr>
              <a:t>INFO MODEL (LAB)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93E71-F3A4-772F-28C6-B2CB018AAA49}"/>
              </a:ext>
            </a:extLst>
          </p:cNvPr>
          <p:cNvSpPr txBox="1"/>
          <p:nvPr/>
        </p:nvSpPr>
        <p:spPr>
          <a:xfrm>
            <a:off x="317635" y="168441"/>
            <a:ext cx="51236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r>
              <a:rPr lang="en-US" altLang="zh-CN" sz="2800" b="1" dirty="0"/>
              <a:t>ourse Coordinator &amp; Instructors</a:t>
            </a:r>
          </a:p>
        </p:txBody>
      </p:sp>
      <p:pic>
        <p:nvPicPr>
          <p:cNvPr id="9" name="Picture 8" descr="A person with short black hair&#10;&#10;AI-generated content may be incorrect.">
            <a:extLst>
              <a:ext uri="{FF2B5EF4-FFF2-40B4-BE49-F238E27FC236}">
                <a16:creationId xmlns:a16="http://schemas.microsoft.com/office/drawing/2014/main" id="{BE5B02EF-9788-D660-C106-A23309EE6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21" y="2361774"/>
            <a:ext cx="875973" cy="1167964"/>
          </a:xfrm>
          <a:prstGeom prst="rect">
            <a:avLst/>
          </a:prstGeom>
        </p:spPr>
      </p:pic>
      <p:pic>
        <p:nvPicPr>
          <p:cNvPr id="11" name="Picture 10" descr="A person in a suit&#10;&#10;AI-generated content may be incorrect.">
            <a:extLst>
              <a:ext uri="{FF2B5EF4-FFF2-40B4-BE49-F238E27FC236}">
                <a16:creationId xmlns:a16="http://schemas.microsoft.com/office/drawing/2014/main" id="{F96A8D50-22A3-48FD-13E7-5BCFFA73C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61774"/>
            <a:ext cx="874800" cy="1166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7807775-BBEA-96DA-8E01-8F110858BE17}"/>
              </a:ext>
            </a:extLst>
          </p:cNvPr>
          <p:cNvSpPr txBox="1"/>
          <p:nvPr/>
        </p:nvSpPr>
        <p:spPr>
          <a:xfrm>
            <a:off x="5747190" y="2371892"/>
            <a:ext cx="2874788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Ms. Yu Xiao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xiao004@e.ntu.edu.sg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38DBDD-51DC-C560-BA56-E9AB49D4899D}"/>
              </a:ext>
            </a:extLst>
          </p:cNvPr>
          <p:cNvSpPr txBox="1"/>
          <p:nvPr/>
        </p:nvSpPr>
        <p:spPr>
          <a:xfrm>
            <a:off x="1330683" y="2347568"/>
            <a:ext cx="2874788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Mr. Jiang Shuo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jian0142@e.ntu.edu.sg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AAC1AF-CEC5-E792-6D5D-E29615A0067E}"/>
              </a:ext>
            </a:extLst>
          </p:cNvPr>
          <p:cNvSpPr txBox="1"/>
          <p:nvPr/>
        </p:nvSpPr>
        <p:spPr>
          <a:xfrm>
            <a:off x="5850629" y="114593"/>
            <a:ext cx="287478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70C0"/>
                </a:solidFill>
              </a:rPr>
              <a:t>Feel Free to Reach Out!</a:t>
            </a:r>
            <a:endParaRPr lang="en-US" sz="20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8185946-F4CA-1161-6199-376E74585ED4}"/>
              </a:ext>
            </a:extLst>
          </p:cNvPr>
          <p:cNvGrpSpPr/>
          <p:nvPr/>
        </p:nvGrpSpPr>
        <p:grpSpPr>
          <a:xfrm>
            <a:off x="2310508" y="697423"/>
            <a:ext cx="4522984" cy="1517453"/>
            <a:chOff x="2155749" y="697423"/>
            <a:chExt cx="4522984" cy="151745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0CF8B3-5715-D3C4-6F09-3CF5D99E57A7}"/>
                </a:ext>
              </a:extLst>
            </p:cNvPr>
            <p:cNvSpPr txBox="1"/>
            <p:nvPr/>
          </p:nvSpPr>
          <p:spPr>
            <a:xfrm>
              <a:off x="3803945" y="835834"/>
              <a:ext cx="2874788" cy="116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b="1" dirty="0">
                  <a:solidFill>
                    <a:srgbClr val="FF0000"/>
                  </a:solidFill>
                </a:rPr>
                <a:t>C</a:t>
              </a:r>
              <a:r>
                <a:rPr lang="en-US" altLang="zh-CN" sz="1600" b="1" dirty="0">
                  <a:solidFill>
                    <a:srgbClr val="FF0000"/>
                  </a:solidFill>
                </a:rPr>
                <a:t>oordinator</a:t>
              </a:r>
            </a:p>
            <a:p>
              <a:pPr>
                <a:lnSpc>
                  <a:spcPct val="150000"/>
                </a:lnSpc>
              </a:pPr>
              <a:r>
                <a:rPr lang="en-US" sz="1600" dirty="0"/>
                <a:t>A</a:t>
              </a:r>
              <a:r>
                <a:rPr lang="en-US" altLang="zh-CN" sz="1600" dirty="0"/>
                <a:t>sst. Prof. Kim Gun</a:t>
              </a:r>
              <a:endParaRPr lang="en-US" sz="1600" dirty="0"/>
            </a:p>
            <a:p>
              <a:pPr>
                <a:lnSpc>
                  <a:spcPct val="150000"/>
                </a:lnSpc>
              </a:pPr>
              <a:r>
                <a:rPr lang="en-US" sz="1600" dirty="0"/>
                <a:t>EMAIL: chao.shi@ntu.edu.sg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D55B52C-05A0-D480-966E-2476D0722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5749" y="697423"/>
              <a:ext cx="1572834" cy="1517453"/>
            </a:xfrm>
            <a:prstGeom prst="rect">
              <a:avLst/>
            </a:prstGeom>
          </p:spPr>
        </p:pic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26EA3340-894C-B485-408E-E225B1DD9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94" y="3661159"/>
            <a:ext cx="874800" cy="1166400"/>
          </a:xfrm>
          <a:prstGeom prst="rect">
            <a:avLst/>
          </a:prstGeom>
        </p:spPr>
      </p:pic>
      <p:sp>
        <p:nvSpPr>
          <p:cNvPr id="12" name="TextBox 18">
            <a:extLst>
              <a:ext uri="{FF2B5EF4-FFF2-40B4-BE49-F238E27FC236}">
                <a16:creationId xmlns:a16="http://schemas.microsoft.com/office/drawing/2014/main" id="{511F76AD-029F-2C2A-0020-93480B20BDDD}"/>
              </a:ext>
            </a:extLst>
          </p:cNvPr>
          <p:cNvSpPr txBox="1"/>
          <p:nvPr/>
        </p:nvSpPr>
        <p:spPr>
          <a:xfrm>
            <a:off x="1330683" y="3642373"/>
            <a:ext cx="2874788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Ms. Huang </a:t>
            </a:r>
            <a:r>
              <a:rPr lang="en-US" sz="1600" dirty="0" err="1"/>
              <a:t>Xinya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EMAIL:  xinya002@e.ntu.edu.sg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F7B0A0C-5E55-05AB-701B-A21FB4630B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38086"/>
            <a:ext cx="874800" cy="1166400"/>
          </a:xfrm>
          <a:prstGeom prst="rect">
            <a:avLst/>
          </a:prstGeom>
        </p:spPr>
      </p:pic>
      <p:sp>
        <p:nvSpPr>
          <p:cNvPr id="21" name="TextBox 18">
            <a:extLst>
              <a:ext uri="{FF2B5EF4-FFF2-40B4-BE49-F238E27FC236}">
                <a16:creationId xmlns:a16="http://schemas.microsoft.com/office/drawing/2014/main" id="{BBF77F4A-2780-3482-C136-9C36362413E0}"/>
              </a:ext>
            </a:extLst>
          </p:cNvPr>
          <p:cNvSpPr txBox="1"/>
          <p:nvPr/>
        </p:nvSpPr>
        <p:spPr>
          <a:xfrm>
            <a:off x="5747190" y="3642373"/>
            <a:ext cx="3175746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Instructor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Mr. Zhang Bowen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EMAIL: bowen011@e.ntu.edu.sg</a:t>
            </a:r>
          </a:p>
        </p:txBody>
      </p:sp>
    </p:spTree>
    <p:extLst>
      <p:ext uri="{BB962C8B-B14F-4D97-AF65-F5344CB8AC3E}">
        <p14:creationId xmlns:p14="http://schemas.microsoft.com/office/powerpoint/2010/main" val="308059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8D589-A5A5-B19C-4C4B-A5A5B39F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8C58D-D52D-FCA7-1B51-1A2CEE03050E}"/>
              </a:ext>
            </a:extLst>
          </p:cNvPr>
          <p:cNvSpPr txBox="1"/>
          <p:nvPr/>
        </p:nvSpPr>
        <p:spPr>
          <a:xfrm>
            <a:off x="317635" y="168441"/>
            <a:ext cx="3024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Course S</a:t>
            </a:r>
            <a:r>
              <a:rPr lang="en-US" altLang="zh-CN" sz="2800" b="1" dirty="0"/>
              <a:t>tructure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682912-1266-CB3D-D1C5-7CFC0365F6D0}"/>
              </a:ext>
            </a:extLst>
          </p:cNvPr>
          <p:cNvSpPr/>
          <p:nvPr/>
        </p:nvSpPr>
        <p:spPr>
          <a:xfrm>
            <a:off x="40778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29698-AFF7-6063-0385-5F08F3278986}"/>
              </a:ext>
            </a:extLst>
          </p:cNvPr>
          <p:cNvSpPr txBox="1"/>
          <p:nvPr/>
        </p:nvSpPr>
        <p:spPr>
          <a:xfrm>
            <a:off x="317633" y="69166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PART I - Engineering Drawing – 2D – Autodesk CAD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9A6BB-15C7-2711-8EA3-C732A7B86497}"/>
              </a:ext>
            </a:extLst>
          </p:cNvPr>
          <p:cNvSpPr txBox="1"/>
          <p:nvPr/>
        </p:nvSpPr>
        <p:spPr>
          <a:xfrm>
            <a:off x="317632" y="2741726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PART II – Building Information Model – 3D – Autodesk Revit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DA77AA-1E84-FDDC-A227-F13D073059D8}"/>
              </a:ext>
            </a:extLst>
          </p:cNvPr>
          <p:cNvSpPr/>
          <p:nvPr/>
        </p:nvSpPr>
        <p:spPr>
          <a:xfrm>
            <a:off x="151721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5AB8B3-7F27-1917-4748-CFA43063AC92}"/>
              </a:ext>
            </a:extLst>
          </p:cNvPr>
          <p:cNvSpPr/>
          <p:nvPr/>
        </p:nvSpPr>
        <p:spPr>
          <a:xfrm>
            <a:off x="2626642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7CDA02-88BE-C270-BAB6-8F0F2511D101}"/>
              </a:ext>
            </a:extLst>
          </p:cNvPr>
          <p:cNvSpPr/>
          <p:nvPr/>
        </p:nvSpPr>
        <p:spPr>
          <a:xfrm>
            <a:off x="3736070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A0519F-9324-51C3-AC25-E942B388B242}"/>
              </a:ext>
            </a:extLst>
          </p:cNvPr>
          <p:cNvSpPr/>
          <p:nvPr/>
        </p:nvSpPr>
        <p:spPr>
          <a:xfrm>
            <a:off x="4845498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51361F-3EB6-2FF4-5AAA-207E2CD9E518}"/>
              </a:ext>
            </a:extLst>
          </p:cNvPr>
          <p:cNvSpPr/>
          <p:nvPr/>
        </p:nvSpPr>
        <p:spPr>
          <a:xfrm>
            <a:off x="5954926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89C4A4-31BD-03EA-DA9D-B4906EC734C3}"/>
              </a:ext>
            </a:extLst>
          </p:cNvPr>
          <p:cNvSpPr/>
          <p:nvPr/>
        </p:nvSpPr>
        <p:spPr>
          <a:xfrm>
            <a:off x="7064354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C2CE772-17BC-417B-FC8A-A3DFFA01E1E1}"/>
              </a:ext>
            </a:extLst>
          </p:cNvPr>
          <p:cNvSpPr/>
          <p:nvPr/>
        </p:nvSpPr>
        <p:spPr>
          <a:xfrm>
            <a:off x="8173783" y="1238840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</a:t>
            </a:r>
            <a:r>
              <a:rPr lang="en-US" altLang="zh-CN" sz="1600" dirty="0"/>
              <a:t>ecess</a:t>
            </a:r>
          </a:p>
          <a:p>
            <a:pPr algn="ctr"/>
            <a:r>
              <a:rPr lang="en-US" sz="1600" dirty="0"/>
              <a:t>W</a:t>
            </a:r>
            <a:r>
              <a:rPr lang="en-US" altLang="zh-CN" sz="1600" dirty="0"/>
              <a:t>eek</a:t>
            </a:r>
            <a:endParaRPr lang="en-US" sz="16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F2C95A-CFDA-F646-9692-26EF98B7102B}"/>
              </a:ext>
            </a:extLst>
          </p:cNvPr>
          <p:cNvCxnSpPr/>
          <p:nvPr/>
        </p:nvCxnSpPr>
        <p:spPr>
          <a:xfrm>
            <a:off x="407786" y="1961855"/>
            <a:ext cx="30603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D7280B-EEDA-FBE6-8589-FE47B2373133}"/>
              </a:ext>
            </a:extLst>
          </p:cNvPr>
          <p:cNvSpPr txBox="1"/>
          <p:nvPr/>
        </p:nvSpPr>
        <p:spPr>
          <a:xfrm>
            <a:off x="828518" y="2062922"/>
            <a:ext cx="2146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AutoCAD Basics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CC910F-91B5-EE3F-F997-C76B009C3C2C}"/>
              </a:ext>
            </a:extLst>
          </p:cNvPr>
          <p:cNvCxnSpPr>
            <a:cxnSpLocks/>
          </p:cNvCxnSpPr>
          <p:nvPr/>
        </p:nvCxnSpPr>
        <p:spPr>
          <a:xfrm>
            <a:off x="3721949" y="1957745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E0E678-4EA1-1957-2B06-EF0421ECB4AB}"/>
              </a:ext>
            </a:extLst>
          </p:cNvPr>
          <p:cNvSpPr txBox="1"/>
          <p:nvPr/>
        </p:nvSpPr>
        <p:spPr>
          <a:xfrm>
            <a:off x="3430501" y="2058812"/>
            <a:ext cx="1452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Orthographic </a:t>
            </a:r>
          </a:p>
          <a:p>
            <a:pPr algn="ctr"/>
            <a:r>
              <a:rPr lang="en-US" dirty="0"/>
              <a:t>Projection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4FC3AF-828C-1B4E-23BA-BDF2A4D32696}"/>
              </a:ext>
            </a:extLst>
          </p:cNvPr>
          <p:cNvCxnSpPr>
            <a:cxnSpLocks/>
          </p:cNvCxnSpPr>
          <p:nvPr/>
        </p:nvCxnSpPr>
        <p:spPr>
          <a:xfrm>
            <a:off x="4845498" y="1961855"/>
            <a:ext cx="19996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E6E0194-1261-8F79-C6DC-7ACE2C946E38}"/>
              </a:ext>
            </a:extLst>
          </p:cNvPr>
          <p:cNvSpPr txBox="1"/>
          <p:nvPr/>
        </p:nvSpPr>
        <p:spPr>
          <a:xfrm>
            <a:off x="4684629" y="2301389"/>
            <a:ext cx="2435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Auxiliary Projection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99A5566-0976-43A7-CFC0-E80DAF695FA2}"/>
              </a:ext>
            </a:extLst>
          </p:cNvPr>
          <p:cNvCxnSpPr>
            <a:cxnSpLocks/>
          </p:cNvCxnSpPr>
          <p:nvPr/>
        </p:nvCxnSpPr>
        <p:spPr>
          <a:xfrm>
            <a:off x="7064354" y="1957745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0E64723-82EB-FC92-F2D9-C4CCA51F16DE}"/>
              </a:ext>
            </a:extLst>
          </p:cNvPr>
          <p:cNvSpPr txBox="1"/>
          <p:nvPr/>
        </p:nvSpPr>
        <p:spPr>
          <a:xfrm>
            <a:off x="6845121" y="206564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</a:t>
            </a:r>
            <a:r>
              <a:rPr lang="en-US" altLang="zh-CN" dirty="0"/>
              <a:t>uiz1</a:t>
            </a:r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4AD7EC5-B3A4-2340-7545-672FCE95D75B}"/>
              </a:ext>
            </a:extLst>
          </p:cNvPr>
          <p:cNvSpPr/>
          <p:nvPr/>
        </p:nvSpPr>
        <p:spPr>
          <a:xfrm>
            <a:off x="40778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W8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42815E1-7A92-4BE8-A76F-E5B6FFD701B4}"/>
              </a:ext>
            </a:extLst>
          </p:cNvPr>
          <p:cNvSpPr/>
          <p:nvPr/>
        </p:nvSpPr>
        <p:spPr>
          <a:xfrm>
            <a:off x="1517214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73DDCA6-2357-8306-C179-227406761CB8}"/>
              </a:ext>
            </a:extLst>
          </p:cNvPr>
          <p:cNvSpPr/>
          <p:nvPr/>
        </p:nvSpPr>
        <p:spPr>
          <a:xfrm>
            <a:off x="2626642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4F24F8C-EDB6-F58A-4218-DEC6F421FF04}"/>
              </a:ext>
            </a:extLst>
          </p:cNvPr>
          <p:cNvSpPr/>
          <p:nvPr/>
        </p:nvSpPr>
        <p:spPr>
          <a:xfrm>
            <a:off x="3736070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C0FABC0-14E8-418A-C146-2D4C2AE8861F}"/>
              </a:ext>
            </a:extLst>
          </p:cNvPr>
          <p:cNvSpPr/>
          <p:nvPr/>
        </p:nvSpPr>
        <p:spPr>
          <a:xfrm>
            <a:off x="4845498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W12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3054CB8-6655-D51D-9EDC-B3D423517AD8}"/>
              </a:ext>
            </a:extLst>
          </p:cNvPr>
          <p:cNvSpPr/>
          <p:nvPr/>
        </p:nvSpPr>
        <p:spPr>
          <a:xfrm>
            <a:off x="5954926" y="3338125"/>
            <a:ext cx="841465" cy="52322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W13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374075-C58C-0B0B-7307-DE7E14FAA57E}"/>
              </a:ext>
            </a:extLst>
          </p:cNvPr>
          <p:cNvCxnSpPr>
            <a:cxnSpLocks/>
          </p:cNvCxnSpPr>
          <p:nvPr/>
        </p:nvCxnSpPr>
        <p:spPr>
          <a:xfrm>
            <a:off x="5953409" y="4020821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B7B7D4-4418-4A3F-19CF-BFD5EE9F3405}"/>
              </a:ext>
            </a:extLst>
          </p:cNvPr>
          <p:cNvSpPr txBox="1"/>
          <p:nvPr/>
        </p:nvSpPr>
        <p:spPr>
          <a:xfrm>
            <a:off x="5734176" y="4128720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</a:t>
            </a:r>
            <a:r>
              <a:rPr lang="en-US" altLang="zh-CN" dirty="0"/>
              <a:t>uiz2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4D0F52-3694-FA34-9A82-8D13D52E9CFD}"/>
              </a:ext>
            </a:extLst>
          </p:cNvPr>
          <p:cNvCxnSpPr>
            <a:cxnSpLocks/>
          </p:cNvCxnSpPr>
          <p:nvPr/>
        </p:nvCxnSpPr>
        <p:spPr>
          <a:xfrm>
            <a:off x="393665" y="4025872"/>
            <a:ext cx="8723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0000D34-31AE-7B4D-CF69-3FD8A2530268}"/>
              </a:ext>
            </a:extLst>
          </p:cNvPr>
          <p:cNvSpPr txBox="1"/>
          <p:nvPr/>
        </p:nvSpPr>
        <p:spPr>
          <a:xfrm>
            <a:off x="317635" y="4111387"/>
            <a:ext cx="100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  <a:r>
              <a:rPr lang="en-US" altLang="zh-CN" dirty="0"/>
              <a:t>evit </a:t>
            </a:r>
          </a:p>
          <a:p>
            <a:pPr algn="ctr"/>
            <a:r>
              <a:rPr lang="en-US" altLang="zh-CN" dirty="0"/>
              <a:t>Basics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63B33-CBC8-4807-26F1-AB92BA700035}"/>
              </a:ext>
            </a:extLst>
          </p:cNvPr>
          <p:cNvCxnSpPr>
            <a:cxnSpLocks/>
          </p:cNvCxnSpPr>
          <p:nvPr/>
        </p:nvCxnSpPr>
        <p:spPr>
          <a:xfrm>
            <a:off x="1494437" y="4025872"/>
            <a:ext cx="30998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F0F14D1-86DB-929B-31AC-EA7F9DA9864F}"/>
              </a:ext>
            </a:extLst>
          </p:cNvPr>
          <p:cNvSpPr txBox="1"/>
          <p:nvPr/>
        </p:nvSpPr>
        <p:spPr>
          <a:xfrm>
            <a:off x="1418407" y="4111387"/>
            <a:ext cx="315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  <a:r>
              <a:rPr lang="en-US" altLang="zh-CN" dirty="0"/>
              <a:t>andson Practice</a:t>
            </a:r>
            <a:endParaRPr 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FE46888-CDA3-E3C8-C436-D8CF763D7B1D}"/>
              </a:ext>
            </a:extLst>
          </p:cNvPr>
          <p:cNvCxnSpPr>
            <a:cxnSpLocks/>
          </p:cNvCxnSpPr>
          <p:nvPr/>
        </p:nvCxnSpPr>
        <p:spPr>
          <a:xfrm>
            <a:off x="4824650" y="4016833"/>
            <a:ext cx="862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E9F8BD5-F28B-DA75-1198-FF1A72F4F8F5}"/>
              </a:ext>
            </a:extLst>
          </p:cNvPr>
          <p:cNvSpPr txBox="1"/>
          <p:nvPr/>
        </p:nvSpPr>
        <p:spPr>
          <a:xfrm>
            <a:off x="4605417" y="4016833"/>
            <a:ext cx="1330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Review</a:t>
            </a:r>
          </a:p>
          <a:p>
            <a:pPr algn="ctr"/>
            <a:r>
              <a:rPr lang="en-US" dirty="0"/>
              <a:t>Self-based Learning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37C717-8C49-1702-CB9F-D64618583452}"/>
              </a:ext>
            </a:extLst>
          </p:cNvPr>
          <p:cNvSpPr txBox="1"/>
          <p:nvPr/>
        </p:nvSpPr>
        <p:spPr>
          <a:xfrm>
            <a:off x="4572000" y="1961154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  <a:r>
              <a:rPr lang="en-US" altLang="zh-CN" baseline="30000" dirty="0"/>
              <a:t>st</a:t>
            </a:r>
            <a:r>
              <a:rPr lang="en-US" altLang="zh-CN" dirty="0"/>
              <a:t> Angle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71B009-65A8-05EE-9FE2-DE1DB5BFEDEC}"/>
              </a:ext>
            </a:extLst>
          </p:cNvPr>
          <p:cNvSpPr txBox="1"/>
          <p:nvPr/>
        </p:nvSpPr>
        <p:spPr>
          <a:xfrm>
            <a:off x="5719476" y="1954807"/>
            <a:ext cx="13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altLang="zh-CN" dirty="0"/>
              <a:t> Angle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05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2679-2CA1-76CC-3D51-D7E51CA0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7F0A9-7FFF-02E0-7FA6-662870811C6B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Grade &amp; Attendance</a:t>
            </a:r>
            <a:endParaRPr lang="en-US" altLang="zh-C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2E727-EA92-8FAE-F0DA-0CE4C43F2FCE}"/>
              </a:ext>
            </a:extLst>
          </p:cNvPr>
          <p:cNvSpPr txBox="1"/>
          <p:nvPr/>
        </p:nvSpPr>
        <p:spPr>
          <a:xfrm>
            <a:off x="317633" y="72141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Grade Structure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F15B4-7A6F-CCC8-AFCF-C9A0A5636158}"/>
              </a:ext>
            </a:extLst>
          </p:cNvPr>
          <p:cNvSpPr txBox="1"/>
          <p:nvPr/>
        </p:nvSpPr>
        <p:spPr>
          <a:xfrm>
            <a:off x="317632" y="1848058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Attendance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F0549-D58C-9CF7-60DA-343620C96D5B}"/>
              </a:ext>
            </a:extLst>
          </p:cNvPr>
          <p:cNvSpPr txBox="1"/>
          <p:nvPr/>
        </p:nvSpPr>
        <p:spPr>
          <a:xfrm>
            <a:off x="317634" y="1284738"/>
            <a:ext cx="58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</a:t>
            </a:r>
            <a:r>
              <a:rPr lang="en-US" altLang="zh-CN" sz="2400" dirty="0"/>
              <a:t>uiz1 (50%) + </a:t>
            </a:r>
            <a:r>
              <a:rPr lang="en-US" sz="2400" dirty="0"/>
              <a:t>Q</a:t>
            </a:r>
            <a:r>
              <a:rPr lang="en-US" altLang="zh-CN" sz="2400" dirty="0"/>
              <a:t>uiz2 (50%) 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5F0B97-1A30-8F97-F2A2-E6C3DA28C834}"/>
              </a:ext>
            </a:extLst>
          </p:cNvPr>
          <p:cNvSpPr txBox="1"/>
          <p:nvPr/>
        </p:nvSpPr>
        <p:spPr>
          <a:xfrm>
            <a:off x="317632" y="2274193"/>
            <a:ext cx="842068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Attendance will be taken during the last 15 minutes of class.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Attendance does not count toward the final grade; however, students are encouraged to attend in person, as exam-related tips will be shared in class.</a:t>
            </a:r>
          </a:p>
        </p:txBody>
      </p:sp>
    </p:spTree>
    <p:extLst>
      <p:ext uri="{BB962C8B-B14F-4D97-AF65-F5344CB8AC3E}">
        <p14:creationId xmlns:p14="http://schemas.microsoft.com/office/powerpoint/2010/main" val="160313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45CC-2227-BC84-C28B-E3044272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294C3-E8C8-DA1E-7FFB-D31A133B621C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</a:t>
            </a:r>
            <a:r>
              <a:rPr lang="en-US" altLang="zh-CN" sz="2800" b="1" dirty="0"/>
              <a:t>uiz Absence Policy</a:t>
            </a:r>
            <a:r>
              <a:rPr lang="en-US" sz="2800" b="1" dirty="0"/>
              <a:t> </a:t>
            </a:r>
            <a:endParaRPr lang="en-US" altLang="zh-C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A032F-9729-9C5C-9664-27AF56C6D6A8}"/>
              </a:ext>
            </a:extLst>
          </p:cNvPr>
          <p:cNvSpPr txBox="1"/>
          <p:nvPr/>
        </p:nvSpPr>
        <p:spPr>
          <a:xfrm>
            <a:off x="317634" y="775141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Request an Absence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DC5F0-6A1F-CB63-CD21-8C09435DDEC7}"/>
              </a:ext>
            </a:extLst>
          </p:cNvPr>
          <p:cNvSpPr txBox="1"/>
          <p:nvPr/>
        </p:nvSpPr>
        <p:spPr>
          <a:xfrm>
            <a:off x="317633" y="2589729"/>
            <a:ext cx="81631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Grade Structure with Absence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DE7A-95ED-90BD-BF68-BB1D14C33089}"/>
              </a:ext>
            </a:extLst>
          </p:cNvPr>
          <p:cNvSpPr txBox="1"/>
          <p:nvPr/>
        </p:nvSpPr>
        <p:spPr>
          <a:xfrm>
            <a:off x="437815" y="1204707"/>
            <a:ext cx="855163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(1) Submit your Medical Certificate (MC) to the School administration.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(2) Email the Course Coordinator.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(3) Email the instructor(s) (preferably notify all three instructors).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5954C7-6766-0D72-F413-5FE5E1BB8212}"/>
              </a:ext>
            </a:extLst>
          </p:cNvPr>
          <p:cNvSpPr txBox="1"/>
          <p:nvPr/>
        </p:nvSpPr>
        <p:spPr>
          <a:xfrm>
            <a:off x="317634" y="3072491"/>
            <a:ext cx="816310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With an approved MC or valid reason, the remaining quiz will count as 100%.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Otherwise, 50% will be deducted for a missed quiz.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Missing both quizzes will result in a </a:t>
            </a:r>
            <a:r>
              <a:rPr lang="en-US" b="1" dirty="0"/>
              <a:t>Fail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498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EF5FB-1A46-A380-559C-875168F7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D6BAA4-A993-EC4A-5510-883C8B6D107A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Tips</a:t>
            </a:r>
            <a:endParaRPr lang="en-US" altLang="zh-C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8F456-9886-C70E-F954-95B8BBB137DA}"/>
              </a:ext>
            </a:extLst>
          </p:cNvPr>
          <p:cNvSpPr txBox="1"/>
          <p:nvPr/>
        </p:nvSpPr>
        <p:spPr>
          <a:xfrm>
            <a:off x="253239" y="657077"/>
            <a:ext cx="8736213" cy="4213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Questions? Please ask the instructors or student helpers.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Please save your work before leaving the lab (OneDrive, email, or USB drive).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Remember to sign out before you leave.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</a:rPr>
              <a:t>NTULearn</a:t>
            </a:r>
            <a:r>
              <a:rPr lang="en-US" sz="2400" dirty="0">
                <a:solidFill>
                  <a:srgbClr val="FF0000"/>
                </a:solidFill>
              </a:rPr>
              <a:t> may occasionally contain incorrect information; please do not follow it blindly.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Content in Weeks 1–3 is relatively easy. Starting from Week 4, the material becomes more challenging, so please preview the materials before coming to the lab.</a:t>
            </a:r>
          </a:p>
        </p:txBody>
      </p:sp>
    </p:spTree>
    <p:extLst>
      <p:ext uri="{BB962C8B-B14F-4D97-AF65-F5344CB8AC3E}">
        <p14:creationId xmlns:p14="http://schemas.microsoft.com/office/powerpoint/2010/main" val="148353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4E8B1-94F8-70CF-D7E3-4E26EF9E519C}"/>
              </a:ext>
            </a:extLst>
          </p:cNvPr>
          <p:cNvSpPr txBox="1"/>
          <p:nvPr/>
        </p:nvSpPr>
        <p:spPr>
          <a:xfrm>
            <a:off x="1536856" y="67025"/>
            <a:ext cx="60702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Autodesk CAD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ED2E1-E530-EBB8-CDA8-CDB621AAC57F}"/>
              </a:ext>
            </a:extLst>
          </p:cNvPr>
          <p:cNvSpPr txBox="1"/>
          <p:nvPr/>
        </p:nvSpPr>
        <p:spPr>
          <a:xfrm>
            <a:off x="521595" y="850714"/>
            <a:ext cx="8429222" cy="3751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These basics serve as the foundation for later course content.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Make sure you are familiar with the core operations.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altLang="zh-CN" sz="2400" b="1" dirty="0" err="1">
                <a:solidFill>
                  <a:srgbClr val="FF0000"/>
                </a:solidFill>
              </a:rPr>
              <a:t>NTULearn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-&gt; Follow the </a:t>
            </a:r>
            <a:r>
              <a:rPr lang="en-US" altLang="zh-CN" sz="2400" b="1" dirty="0" err="1">
                <a:solidFill>
                  <a:srgbClr val="FF0000"/>
                </a:solidFill>
              </a:rPr>
              <a:t>Linkedin</a:t>
            </a:r>
            <a:r>
              <a:rPr lang="en-US" altLang="zh-CN" sz="2400" b="1" dirty="0">
                <a:solidFill>
                  <a:srgbClr val="FF0000"/>
                </a:solidFill>
              </a:rPr>
              <a:t> Videos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learn.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Follow the notes (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Course Content 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&gt; Content &gt; Note-Part 1) on </a:t>
            </a:r>
            <a:r>
              <a:rPr lang="en-US" altLang="zh-CN" sz="24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NTULearn</a:t>
            </a: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you do not need to watch all the videos.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Assignments:</a:t>
            </a: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E2 – Submission by the end of Week 2.</a:t>
            </a:r>
          </a:p>
          <a:p>
            <a:pPr marL="800100" lvl="1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E3 &amp; E5 – Submission by the end of Week 3.</a:t>
            </a:r>
          </a:p>
        </p:txBody>
      </p:sp>
    </p:spTree>
    <p:extLst>
      <p:ext uri="{BB962C8B-B14F-4D97-AF65-F5344CB8AC3E}">
        <p14:creationId xmlns:p14="http://schemas.microsoft.com/office/powerpoint/2010/main" val="1443235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B214D-7351-0E78-A529-DBF9BB85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E286F-7C71-F46B-FBF4-BD5EDA611CF8}"/>
              </a:ext>
            </a:extLst>
          </p:cNvPr>
          <p:cNvSpPr txBox="1"/>
          <p:nvPr/>
        </p:nvSpPr>
        <p:spPr>
          <a:xfrm>
            <a:off x="125129" y="73126"/>
            <a:ext cx="4446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Linkedin</a:t>
            </a:r>
            <a:r>
              <a:rPr lang="en-US" sz="2800" dirty="0"/>
              <a:t> Video Access Issue?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D04DD-25EF-CA22-BFA0-FB7F46D18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885" y="625641"/>
            <a:ext cx="4116987" cy="418312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91823-4A3C-5F70-5566-AABF409A5E83}"/>
              </a:ext>
            </a:extLst>
          </p:cNvPr>
          <p:cNvCxnSpPr/>
          <p:nvPr/>
        </p:nvCxnSpPr>
        <p:spPr>
          <a:xfrm flipH="1">
            <a:off x="3387944" y="457200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832FBD-F61F-6A7C-CDA9-1A698B6AC9DF}"/>
              </a:ext>
            </a:extLst>
          </p:cNvPr>
          <p:cNvCxnSpPr/>
          <p:nvPr/>
        </p:nvCxnSpPr>
        <p:spPr>
          <a:xfrm flipH="1">
            <a:off x="6698815" y="3850821"/>
            <a:ext cx="220436" cy="2530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45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066AF-A921-28C1-8AF9-8942C769A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878ED72-6AB0-C9FD-E8F2-DA516DC3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57" b="26251"/>
          <a:stretch>
            <a:fillRect/>
          </a:stretch>
        </p:blipFill>
        <p:spPr>
          <a:xfrm>
            <a:off x="6727790" y="810296"/>
            <a:ext cx="2372530" cy="3049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E9A133-4B19-3FFA-927C-8D5E691E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6" b="16777"/>
          <a:stretch>
            <a:fillRect/>
          </a:stretch>
        </p:blipFill>
        <p:spPr>
          <a:xfrm>
            <a:off x="4194689" y="810296"/>
            <a:ext cx="2372530" cy="35370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7CF7B7-7CE4-AE82-E71E-3279B130976D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Where to download </a:t>
            </a:r>
            <a:r>
              <a:rPr lang="en-US" sz="2800" b="1"/>
              <a:t>the slides?</a:t>
            </a:r>
            <a:endParaRPr lang="en-US" altLang="zh-CN" sz="28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F29FD-C5C8-23F9-EA3F-D17CCFB0B60B}"/>
              </a:ext>
            </a:extLst>
          </p:cNvPr>
          <p:cNvSpPr/>
          <p:nvPr/>
        </p:nvSpPr>
        <p:spPr>
          <a:xfrm>
            <a:off x="4320790" y="2461846"/>
            <a:ext cx="2130251" cy="276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088EBD-1777-E072-C48A-7B3EB1AD8169}"/>
              </a:ext>
            </a:extLst>
          </p:cNvPr>
          <p:cNvSpPr/>
          <p:nvPr/>
        </p:nvSpPr>
        <p:spPr>
          <a:xfrm>
            <a:off x="7584221" y="2008719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545CA8-659F-6416-28CF-C6D29B01723D}"/>
              </a:ext>
            </a:extLst>
          </p:cNvPr>
          <p:cNvCxnSpPr>
            <a:cxnSpLocks/>
          </p:cNvCxnSpPr>
          <p:nvPr/>
        </p:nvCxnSpPr>
        <p:spPr>
          <a:xfrm flipH="1">
            <a:off x="8797530" y="1708220"/>
            <a:ext cx="150527" cy="3028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QR Code Image">
            <a:extLst>
              <a:ext uri="{FF2B5EF4-FFF2-40B4-BE49-F238E27FC236}">
                <a16:creationId xmlns:a16="http://schemas.microsoft.com/office/drawing/2014/main" id="{FB950885-3997-1140-D6CE-2D36C1F00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10296"/>
            <a:ext cx="3869873" cy="38698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1266E3-78EA-F711-3D66-742DA96A4E23}"/>
              </a:ext>
            </a:extLst>
          </p:cNvPr>
          <p:cNvCxnSpPr>
            <a:cxnSpLocks/>
          </p:cNvCxnSpPr>
          <p:nvPr/>
        </p:nvCxnSpPr>
        <p:spPr>
          <a:xfrm flipV="1">
            <a:off x="3781339" y="1085516"/>
            <a:ext cx="651091" cy="5505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049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477</Words>
  <Application>Microsoft Office PowerPoint</Application>
  <PresentationFormat>全屏显示(16:9)</PresentationFormat>
  <Paragraphs>80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CV1711 ENGINEERING DRAWING &amp; 3D BUILD  INFO MODEL (LAB)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#JIANG SHUO#</cp:lastModifiedBy>
  <cp:revision>31</cp:revision>
  <dcterms:created xsi:type="dcterms:W3CDTF">2017-05-14T01:29:56Z</dcterms:created>
  <dcterms:modified xsi:type="dcterms:W3CDTF">2026-08-17T05:02:16Z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